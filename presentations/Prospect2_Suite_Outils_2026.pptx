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32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3" name="Picture 2" descr="logo_prospect.png"/>
          <p:cNvPicPr>
            <a:picLocks noChangeAspect="1"/>
          </p:cNvPicPr>
          <p:nvPr/>
        </p:nvPicPr>
        <p:blipFill>
          <a:blip r:embed="rId2"/>
          <a:stretch>
            <a:fillRect/>
          </a:stretch>
        </p:blipFill>
        <p:spPr>
          <a:xfrm>
            <a:off x="4656600" y="216000"/>
            <a:ext cx="2880000" cy="2880000"/>
          </a:xfrm>
          <a:prstGeom prst="rect">
            <a:avLst/>
          </a:prstGeom>
        </p:spPr>
      </p:pic>
      <p:sp>
        <p:nvSpPr>
          <p:cNvPr id="4" name="TextBox 3"/>
          <p:cNvSpPr txBox="1"/>
          <p:nvPr/>
        </p:nvSpPr>
        <p:spPr>
          <a:xfrm>
            <a:off x="720000" y="2520000"/>
            <a:ext cx="10753200" cy="720000"/>
          </a:xfrm>
          <a:prstGeom prst="rect">
            <a:avLst/>
          </a:prstGeom>
          <a:noFill/>
        </p:spPr>
        <p:txBody>
          <a:bodyPr wrap="square">
            <a:spAutoFit/>
          </a:bodyPr>
          <a:lstStyle/>
          <a:p>
            <a:pPr algn="ctr"/>
            <a:r>
              <a:rPr sz="2800" b="1">
                <a:solidFill>
                  <a:srgbClr val="1A1A1A"/>
                </a:solidFill>
                <a:latin typeface="Calibri"/>
              </a:rPr>
              <a:t>Suite d'outils numériques — Gestion complète de votre entreprise</a:t>
            </a:r>
          </a:p>
        </p:txBody>
      </p:sp>
      <p:sp>
        <p:nvSpPr>
          <p:cNvPr id="5" name="TextBox 4"/>
          <p:cNvSpPr txBox="1"/>
          <p:nvPr/>
        </p:nvSpPr>
        <p:spPr>
          <a:xfrm>
            <a:off x="1080000" y="3528000"/>
            <a:ext cx="10033200" cy="540000"/>
          </a:xfrm>
          <a:prstGeom prst="rect">
            <a:avLst/>
          </a:prstGeom>
          <a:noFill/>
        </p:spPr>
        <p:txBody>
          <a:bodyPr wrap="square">
            <a:spAutoFit/>
          </a:bodyPr>
          <a:lstStyle/>
          <a:p>
            <a:pPr algn="ctr"/>
            <a:r>
              <a:rPr sz="1600">
                <a:solidFill>
                  <a:srgbClr val="555555"/>
                </a:solidFill>
                <a:latin typeface="Calibri"/>
              </a:rPr>
              <a:t>Une solution intégrée de 9 outils pour automatiser, suivre et faire croître votre entreprise</a:t>
            </a:r>
          </a:p>
        </p:txBody>
      </p:sp>
      <p:sp>
        <p:nvSpPr>
          <p:cNvPr id="6" name="TextBox 5"/>
          <p:cNvSpPr txBox="1"/>
          <p:nvPr/>
        </p:nvSpPr>
        <p:spPr>
          <a:xfrm>
            <a:off x="720000" y="4140000"/>
            <a:ext cx="10753200" cy="288000"/>
          </a:xfrm>
          <a:prstGeom prst="rect">
            <a:avLst/>
          </a:prstGeom>
          <a:noFill/>
        </p:spPr>
        <p:txBody>
          <a:bodyPr wrap="none">
            <a:spAutoFit/>
          </a:bodyPr>
          <a:lstStyle/>
          <a:p>
            <a:pPr algn="ctr"/>
            <a:r>
              <a:rPr sz="1200">
                <a:solidFill>
                  <a:srgbClr val="FF6B35"/>
                </a:solidFill>
                <a:latin typeface="Calibri"/>
              </a:rPr>
              <a:t>Présenté par Prospect 2.0</a:t>
            </a:r>
          </a:p>
        </p:txBody>
      </p:sp>
      <p:sp>
        <p:nvSpPr>
          <p:cNvPr id="7" name="Rectangle 6"/>
          <p:cNvSpPr/>
          <p:nvPr/>
        </p:nvSpPr>
        <p:spPr>
          <a:xfrm>
            <a:off x="5016600" y="6318000"/>
            <a:ext cx="2160000" cy="251999"/>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888888"/>
                </a:solidFill>
                <a:latin typeface="Calibri"/>
              </a:rPr>
              <a:t>Document confidentiel</a:t>
            </a:r>
          </a:p>
        </p:txBody>
      </p:sp>
      <p:sp>
        <p:nvSpPr>
          <p:cNvPr id="8" name="TextBox 7"/>
          <p:cNvSpPr txBox="1"/>
          <p:nvPr/>
        </p:nvSpPr>
        <p:spPr>
          <a:xfrm>
            <a:off x="10933200" y="6546800"/>
            <a:ext cx="1080000" cy="203200"/>
          </a:xfrm>
          <a:prstGeom prst="rect">
            <a:avLst/>
          </a:prstGeom>
          <a:noFill/>
        </p:spPr>
        <p:txBody>
          <a:bodyPr wrap="none">
            <a:spAutoFit/>
          </a:bodyPr>
          <a:lstStyle/>
          <a:p>
            <a:pPr algn="r"/>
            <a:r>
              <a:rPr sz="900">
                <a:solidFill>
                  <a:srgbClr val="AAAAAA"/>
                </a:solidFill>
                <a:latin typeface="Calibri"/>
              </a:rPr>
              <a:t>1 / 15</a:t>
            </a:r>
          </a:p>
        </p:txBody>
      </p:sp>
      <p:sp>
        <p:nvSpPr>
          <p:cNvPr id="2" name="Rectangle 1"/>
          <p:cNvSpPr/>
          <p:nvPr/>
        </p:nvSpPr>
        <p:spPr>
          <a:xfrm>
            <a:off x="0" y="0"/>
            <a:ext cx="12193200" cy="180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3200" cy="127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80000"/>
            <a:ext cx="11473200" cy="503999"/>
          </a:xfrm>
          <a:prstGeom prst="rect">
            <a:avLst/>
          </a:prstGeom>
          <a:noFill/>
        </p:spPr>
        <p:txBody>
          <a:bodyPr wrap="square">
            <a:spAutoFit/>
          </a:bodyPr>
          <a:lstStyle/>
          <a:p>
            <a:r>
              <a:rPr sz="2200" b="1">
                <a:solidFill>
                  <a:srgbClr val="1A1A1A"/>
                </a:solidFill>
                <a:latin typeface="Calibri"/>
              </a:rPr>
              <a:t>9 outils intégrés, un seul écosystème</a:t>
            </a:r>
          </a:p>
        </p:txBody>
      </p:sp>
      <p:sp>
        <p:nvSpPr>
          <p:cNvPr id="4" name="TextBox 3"/>
          <p:cNvSpPr txBox="1"/>
          <p:nvPr/>
        </p:nvSpPr>
        <p:spPr>
          <a:xfrm>
            <a:off x="360000" y="648000"/>
            <a:ext cx="11473200" cy="360000"/>
          </a:xfrm>
          <a:prstGeom prst="rect">
            <a:avLst/>
          </a:prstGeom>
          <a:noFill/>
        </p:spPr>
        <p:txBody>
          <a:bodyPr wrap="square">
            <a:spAutoFit/>
          </a:bodyPr>
          <a:lstStyle/>
          <a:p>
            <a:r>
              <a:rPr sz="1300">
                <a:solidFill>
                  <a:srgbClr val="555555"/>
                </a:solidFill>
                <a:latin typeface="Calibri"/>
              </a:rPr>
              <a:t>Chaque outil fonctionne seul — ensemble, ils éliminent les silos.</a:t>
            </a:r>
          </a:p>
        </p:txBody>
      </p:sp>
      <p:sp>
        <p:nvSpPr>
          <p:cNvPr id="5" name="Rectangle 4"/>
          <p:cNvSpPr/>
          <p:nvPr/>
        </p:nvSpPr>
        <p:spPr>
          <a:xfrm>
            <a:off x="396000" y="1080000"/>
            <a:ext cx="3752400" cy="792000"/>
          </a:xfrm>
          <a:prstGeom prst="rect">
            <a:avLst/>
          </a:prstGeom>
          <a:solidFill>
            <a:srgbClr val="F8F8F8"/>
          </a:solidFill>
          <a:ln w="952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8000" y="1080000"/>
            <a:ext cx="3644400" cy="792000"/>
          </a:xfrm>
          <a:prstGeom prst="rect">
            <a:avLst/>
          </a:prstGeom>
          <a:noFill/>
        </p:spPr>
        <p:txBody>
          <a:bodyPr wrap="square">
            <a:spAutoFit/>
          </a:bodyPr>
          <a:lstStyle/>
          <a:p>
            <a:r>
              <a:rPr sz="1600">
                <a:latin typeface="Segoe UI Emoji"/>
              </a:rPr>
              <a:t>📋  </a:t>
            </a:r>
            <a:r>
              <a:rPr sz="1400" b="1">
                <a:solidFill>
                  <a:srgbClr val="1A1A1A"/>
                </a:solidFill>
                <a:latin typeface="Calibri"/>
              </a:rPr>
              <a:t>Soumissions</a:t>
            </a:r>
          </a:p>
          <a:p>
            <a:pPr>
              <a:spcBef>
                <a:spcPts val="300"/>
              </a:spcBef>
            </a:pPr>
            <a:r>
              <a:rPr sz="1100">
                <a:solidFill>
                  <a:srgbClr val="555555"/>
                </a:solidFill>
                <a:latin typeface="Calibri"/>
              </a:rPr>
              <a:t>Du lead à la facture en quelques clics</a:t>
            </a:r>
          </a:p>
        </p:txBody>
      </p:sp>
      <p:sp>
        <p:nvSpPr>
          <p:cNvPr id="7" name="Rectangle 6"/>
          <p:cNvSpPr/>
          <p:nvPr/>
        </p:nvSpPr>
        <p:spPr>
          <a:xfrm>
            <a:off x="4220400" y="1080000"/>
            <a:ext cx="3752400" cy="792000"/>
          </a:xfrm>
          <a:prstGeom prst="rect">
            <a:avLst/>
          </a:prstGeom>
          <a:solidFill>
            <a:srgbClr val="FFFFFF"/>
          </a:solidFill>
          <a:ln w="952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2400" y="1080000"/>
            <a:ext cx="3644400" cy="792000"/>
          </a:xfrm>
          <a:prstGeom prst="rect">
            <a:avLst/>
          </a:prstGeom>
          <a:noFill/>
        </p:spPr>
        <p:txBody>
          <a:bodyPr wrap="square">
            <a:spAutoFit/>
          </a:bodyPr>
          <a:lstStyle/>
          <a:p>
            <a:r>
              <a:rPr sz="1600">
                <a:latin typeface="Segoe UI Emoji"/>
              </a:rPr>
              <a:t>🗺️  </a:t>
            </a:r>
            <a:r>
              <a:rPr sz="1400" b="1">
                <a:solidFill>
                  <a:srgbClr val="1A1A1A"/>
                </a:solidFill>
                <a:latin typeface="Calibri"/>
              </a:rPr>
              <a:t>Tournée</a:t>
            </a:r>
          </a:p>
          <a:p>
            <a:pPr>
              <a:spcBef>
                <a:spcPts val="300"/>
              </a:spcBef>
            </a:pPr>
            <a:r>
              <a:rPr sz="1100">
                <a:solidFill>
                  <a:srgbClr val="555555"/>
                </a:solidFill>
                <a:latin typeface="Calibri"/>
              </a:rPr>
              <a:t>Trajet optimisé, suivi en temps réel</a:t>
            </a:r>
          </a:p>
        </p:txBody>
      </p:sp>
      <p:sp>
        <p:nvSpPr>
          <p:cNvPr id="9" name="Rectangle 8"/>
          <p:cNvSpPr/>
          <p:nvPr/>
        </p:nvSpPr>
        <p:spPr>
          <a:xfrm>
            <a:off x="8044800" y="1080000"/>
            <a:ext cx="3752400" cy="792000"/>
          </a:xfrm>
          <a:prstGeom prst="rect">
            <a:avLst/>
          </a:prstGeom>
          <a:solidFill>
            <a:srgbClr val="F8F8F8"/>
          </a:solidFill>
          <a:ln w="952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16800" y="1080000"/>
            <a:ext cx="3644400" cy="792000"/>
          </a:xfrm>
          <a:prstGeom prst="rect">
            <a:avLst/>
          </a:prstGeom>
          <a:noFill/>
        </p:spPr>
        <p:txBody>
          <a:bodyPr wrap="square">
            <a:spAutoFit/>
          </a:bodyPr>
          <a:lstStyle/>
          <a:p>
            <a:r>
              <a:rPr sz="1600">
                <a:latin typeface="Segoe UI Emoji"/>
              </a:rPr>
              <a:t>🏭  </a:t>
            </a:r>
            <a:r>
              <a:rPr sz="1400" b="1">
                <a:solidFill>
                  <a:srgbClr val="1A1A1A"/>
                </a:solidFill>
                <a:latin typeface="Calibri"/>
              </a:rPr>
              <a:t>Production</a:t>
            </a:r>
          </a:p>
          <a:p>
            <a:pPr>
              <a:spcBef>
                <a:spcPts val="300"/>
              </a:spcBef>
            </a:pPr>
            <a:r>
              <a:rPr sz="1100">
                <a:solidFill>
                  <a:srgbClr val="555555"/>
                </a:solidFill>
                <a:latin typeface="Calibri"/>
              </a:rPr>
              <a:t>Documents d'atelier générés automatiquement</a:t>
            </a:r>
          </a:p>
        </p:txBody>
      </p:sp>
      <p:sp>
        <p:nvSpPr>
          <p:cNvPr id="11" name="Rectangle 10"/>
          <p:cNvSpPr/>
          <p:nvPr/>
        </p:nvSpPr>
        <p:spPr>
          <a:xfrm>
            <a:off x="396000" y="2088000"/>
            <a:ext cx="3752400" cy="792000"/>
          </a:xfrm>
          <a:prstGeom prst="rect">
            <a:avLst/>
          </a:prstGeom>
          <a:solidFill>
            <a:srgbClr val="FFFFFF"/>
          </a:solidFill>
          <a:ln w="952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8000" y="2088000"/>
            <a:ext cx="3644400" cy="792000"/>
          </a:xfrm>
          <a:prstGeom prst="rect">
            <a:avLst/>
          </a:prstGeom>
          <a:noFill/>
        </p:spPr>
        <p:txBody>
          <a:bodyPr wrap="square">
            <a:spAutoFit/>
          </a:bodyPr>
          <a:lstStyle/>
          <a:p>
            <a:r>
              <a:rPr sz="1600">
                <a:latin typeface="Segoe UI Emoji"/>
              </a:rPr>
              <a:t>📊  </a:t>
            </a:r>
            <a:r>
              <a:rPr sz="1400" b="1">
                <a:solidFill>
                  <a:srgbClr val="1A1A1A"/>
                </a:solidFill>
                <a:latin typeface="Calibri"/>
              </a:rPr>
              <a:t>Dashboard</a:t>
            </a:r>
          </a:p>
          <a:p>
            <a:pPr>
              <a:spcBef>
                <a:spcPts val="300"/>
              </a:spcBef>
            </a:pPr>
            <a:r>
              <a:rPr sz="1100">
                <a:solidFill>
                  <a:srgbClr val="555555"/>
                </a:solidFill>
                <a:latin typeface="Calibri"/>
              </a:rPr>
              <a:t>Tous les indicateurs en une page</a:t>
            </a:r>
          </a:p>
        </p:txBody>
      </p:sp>
      <p:sp>
        <p:nvSpPr>
          <p:cNvPr id="13" name="Rectangle 12"/>
          <p:cNvSpPr/>
          <p:nvPr/>
        </p:nvSpPr>
        <p:spPr>
          <a:xfrm>
            <a:off x="4220400" y="2088000"/>
            <a:ext cx="3752400" cy="792000"/>
          </a:xfrm>
          <a:prstGeom prst="rect">
            <a:avLst/>
          </a:prstGeom>
          <a:solidFill>
            <a:srgbClr val="F8F8F8"/>
          </a:solidFill>
          <a:ln w="952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2400" y="2088000"/>
            <a:ext cx="3644400" cy="792000"/>
          </a:xfrm>
          <a:prstGeom prst="rect">
            <a:avLst/>
          </a:prstGeom>
          <a:noFill/>
        </p:spPr>
        <p:txBody>
          <a:bodyPr wrap="square">
            <a:spAutoFit/>
          </a:bodyPr>
          <a:lstStyle/>
          <a:p>
            <a:r>
              <a:rPr sz="1600">
                <a:latin typeface="Segoe UI Emoji"/>
              </a:rPr>
              <a:t>⏱️  </a:t>
            </a:r>
            <a:r>
              <a:rPr sz="1400" b="1">
                <a:solidFill>
                  <a:srgbClr val="1A1A1A"/>
                </a:solidFill>
                <a:latin typeface="Calibri"/>
              </a:rPr>
              <a:t>Feuille de temps</a:t>
            </a:r>
          </a:p>
          <a:p>
            <a:pPr>
              <a:spcBef>
                <a:spcPts val="300"/>
              </a:spcBef>
            </a:pPr>
            <a:r>
              <a:rPr sz="1100">
                <a:solidFill>
                  <a:srgbClr val="555555"/>
                </a:solidFill>
                <a:latin typeface="Calibri"/>
              </a:rPr>
              <a:t>Saisie numérique, paie simplifiée</a:t>
            </a:r>
          </a:p>
        </p:txBody>
      </p:sp>
      <p:sp>
        <p:nvSpPr>
          <p:cNvPr id="15" name="Rectangle 14"/>
          <p:cNvSpPr/>
          <p:nvPr/>
        </p:nvSpPr>
        <p:spPr>
          <a:xfrm>
            <a:off x="8044800" y="2088000"/>
            <a:ext cx="3752400" cy="792000"/>
          </a:xfrm>
          <a:prstGeom prst="rect">
            <a:avLst/>
          </a:prstGeom>
          <a:solidFill>
            <a:srgbClr val="FFFFFF"/>
          </a:solidFill>
          <a:ln w="952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6800" y="2088000"/>
            <a:ext cx="3644400" cy="792000"/>
          </a:xfrm>
          <a:prstGeom prst="rect">
            <a:avLst/>
          </a:prstGeom>
          <a:noFill/>
        </p:spPr>
        <p:txBody>
          <a:bodyPr wrap="square">
            <a:spAutoFit/>
          </a:bodyPr>
          <a:lstStyle/>
          <a:p>
            <a:r>
              <a:rPr sz="1600">
                <a:latin typeface="Segoe UI Emoji"/>
              </a:rPr>
              <a:t>🔄  </a:t>
            </a:r>
            <a:r>
              <a:rPr sz="1400" b="1">
                <a:solidFill>
                  <a:srgbClr val="1A1A1A"/>
                </a:solidFill>
                <a:latin typeface="Calibri"/>
              </a:rPr>
              <a:t>Suivi production</a:t>
            </a:r>
          </a:p>
          <a:p>
            <a:pPr>
              <a:spcBef>
                <a:spcPts val="300"/>
              </a:spcBef>
            </a:pPr>
            <a:r>
              <a:rPr sz="1100">
                <a:solidFill>
                  <a:srgbClr val="555555"/>
                </a:solidFill>
                <a:latin typeface="Calibri"/>
              </a:rPr>
              <a:t>Dossiers suivis de la fabrication à l'installation</a:t>
            </a:r>
          </a:p>
        </p:txBody>
      </p:sp>
      <p:sp>
        <p:nvSpPr>
          <p:cNvPr id="17" name="Rectangle 16"/>
          <p:cNvSpPr/>
          <p:nvPr/>
        </p:nvSpPr>
        <p:spPr>
          <a:xfrm>
            <a:off x="396000" y="3096000"/>
            <a:ext cx="3752400" cy="792000"/>
          </a:xfrm>
          <a:prstGeom prst="rect">
            <a:avLst/>
          </a:prstGeom>
          <a:solidFill>
            <a:srgbClr val="F8F8F8"/>
          </a:solidFill>
          <a:ln w="952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3096000"/>
            <a:ext cx="3644400" cy="792000"/>
          </a:xfrm>
          <a:prstGeom prst="rect">
            <a:avLst/>
          </a:prstGeom>
          <a:noFill/>
        </p:spPr>
        <p:txBody>
          <a:bodyPr wrap="square">
            <a:spAutoFit/>
          </a:bodyPr>
          <a:lstStyle/>
          <a:p>
            <a:r>
              <a:rPr sz="1600">
                <a:latin typeface="Segoe UI Emoji"/>
              </a:rPr>
              <a:t>🔧  </a:t>
            </a:r>
            <a:r>
              <a:rPr sz="1400" b="1">
                <a:solidFill>
                  <a:srgbClr val="1A1A1A"/>
                </a:solidFill>
                <a:latin typeface="Calibri"/>
              </a:rPr>
              <a:t>Suivi usine</a:t>
            </a:r>
          </a:p>
          <a:p>
            <a:pPr>
              <a:spcBef>
                <a:spcPts val="300"/>
              </a:spcBef>
            </a:pPr>
            <a:r>
              <a:rPr sz="1100">
                <a:solidFill>
                  <a:srgbClr val="555555"/>
                </a:solidFill>
                <a:latin typeface="Calibri"/>
              </a:rPr>
              <a:t>Interface atelier sans paperasse</a:t>
            </a:r>
          </a:p>
        </p:txBody>
      </p:sp>
      <p:sp>
        <p:nvSpPr>
          <p:cNvPr id="19" name="Rectangle 18"/>
          <p:cNvSpPr/>
          <p:nvPr/>
        </p:nvSpPr>
        <p:spPr>
          <a:xfrm>
            <a:off x="4220400" y="3096000"/>
            <a:ext cx="3752400" cy="792000"/>
          </a:xfrm>
          <a:prstGeom prst="rect">
            <a:avLst/>
          </a:prstGeom>
          <a:solidFill>
            <a:srgbClr val="FFFFFF"/>
          </a:solidFill>
          <a:ln w="952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2400" y="3096000"/>
            <a:ext cx="3644400" cy="792000"/>
          </a:xfrm>
          <a:prstGeom prst="rect">
            <a:avLst/>
          </a:prstGeom>
          <a:noFill/>
        </p:spPr>
        <p:txBody>
          <a:bodyPr wrap="square">
            <a:spAutoFit/>
          </a:bodyPr>
          <a:lstStyle/>
          <a:p>
            <a:r>
              <a:rPr sz="1600">
                <a:latin typeface="Segoe UI Emoji"/>
              </a:rPr>
              <a:t>🎯  </a:t>
            </a:r>
            <a:r>
              <a:rPr sz="1400" b="1">
                <a:solidFill>
                  <a:srgbClr val="1A1A1A"/>
                </a:solidFill>
                <a:latin typeface="Calibri"/>
              </a:rPr>
              <a:t>Prospection</a:t>
            </a:r>
          </a:p>
          <a:p>
            <a:pPr>
              <a:spcBef>
                <a:spcPts val="300"/>
              </a:spcBef>
            </a:pPr>
            <a:r>
              <a:rPr sz="1100">
                <a:solidFill>
                  <a:srgbClr val="555555"/>
                </a:solidFill>
                <a:latin typeface="Calibri"/>
              </a:rPr>
              <a:t>Pipeline de ventes et diagnostic automatisé</a:t>
            </a:r>
          </a:p>
        </p:txBody>
      </p:sp>
      <p:sp>
        <p:nvSpPr>
          <p:cNvPr id="21" name="Rectangle 20"/>
          <p:cNvSpPr/>
          <p:nvPr/>
        </p:nvSpPr>
        <p:spPr>
          <a:xfrm>
            <a:off x="8044800" y="3096000"/>
            <a:ext cx="3752400" cy="792000"/>
          </a:xfrm>
          <a:prstGeom prst="rect">
            <a:avLst/>
          </a:prstGeom>
          <a:solidFill>
            <a:srgbClr val="F8F8F8"/>
          </a:solidFill>
          <a:ln w="9525">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6800" y="3096000"/>
            <a:ext cx="3644400" cy="792000"/>
          </a:xfrm>
          <a:prstGeom prst="rect">
            <a:avLst/>
          </a:prstGeom>
          <a:noFill/>
        </p:spPr>
        <p:txBody>
          <a:bodyPr wrap="square">
            <a:spAutoFit/>
          </a:bodyPr>
          <a:lstStyle/>
          <a:p>
            <a:r>
              <a:rPr sz="1600">
                <a:latin typeface="Segoe UI Emoji"/>
              </a:rPr>
              <a:t>📦  </a:t>
            </a:r>
            <a:r>
              <a:rPr sz="1400" b="1">
                <a:solidFill>
                  <a:srgbClr val="1A1A1A"/>
                </a:solidFill>
                <a:latin typeface="Calibri"/>
              </a:rPr>
              <a:t>Inventaire</a:t>
            </a:r>
          </a:p>
          <a:p>
            <a:pPr>
              <a:spcBef>
                <a:spcPts val="300"/>
              </a:spcBef>
            </a:pPr>
            <a:r>
              <a:rPr sz="1100">
                <a:solidFill>
                  <a:srgbClr val="555555"/>
                </a:solidFill>
                <a:latin typeface="Calibri"/>
              </a:rPr>
              <a:t>Stocks en temps réel, alertes automatiques</a:t>
            </a:r>
          </a:p>
        </p:txBody>
      </p:sp>
      <p:sp>
        <p:nvSpPr>
          <p:cNvPr id="23" name="TextBox 22"/>
          <p:cNvSpPr txBox="1"/>
          <p:nvPr/>
        </p:nvSpPr>
        <p:spPr>
          <a:xfrm>
            <a:off x="10933200" y="6546800"/>
            <a:ext cx="1080000" cy="203200"/>
          </a:xfrm>
          <a:prstGeom prst="rect">
            <a:avLst/>
          </a:prstGeom>
          <a:noFill/>
        </p:spPr>
        <p:txBody>
          <a:bodyPr wrap="none">
            <a:spAutoFit/>
          </a:bodyPr>
          <a:lstStyle/>
          <a:p>
            <a:pPr algn="r"/>
            <a:r>
              <a:rPr sz="900">
                <a:solidFill>
                  <a:srgbClr val="AAAAAA"/>
                </a:solidFill>
                <a:latin typeface="Calibri"/>
              </a:rP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3200" cy="127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80000"/>
            <a:ext cx="11473200" cy="503999"/>
          </a:xfrm>
          <a:prstGeom prst="rect">
            <a:avLst/>
          </a:prstGeom>
          <a:noFill/>
        </p:spPr>
        <p:txBody>
          <a:bodyPr wrap="square">
            <a:spAutoFit/>
          </a:bodyPr>
          <a:lstStyle/>
          <a:p>
            <a:r>
              <a:rPr sz="2000" b="1">
                <a:solidFill>
                  <a:srgbClr val="1A1A1A"/>
                </a:solidFill>
                <a:latin typeface="Calibri"/>
              </a:rPr>
              <a:t>Soumissions — Du premier contact à la facture payée</a:t>
            </a:r>
          </a:p>
        </p:txBody>
      </p:sp>
      <p:sp>
        <p:nvSpPr>
          <p:cNvPr id="4" name="Rectangle 3"/>
          <p:cNvSpPr/>
          <p:nvPr/>
        </p:nvSpPr>
        <p:spPr>
          <a:xfrm>
            <a:off x="360000" y="1980000"/>
            <a:ext cx="2298412" cy="19800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Calibri"/>
              </a:rPr>
              <a:t>Cycle de vie du dossier</a:t>
            </a:r>
          </a:p>
        </p:txBody>
      </p:sp>
      <p:sp>
        <p:nvSpPr>
          <p:cNvPr id="5" name="TextBox 4"/>
          <p:cNvSpPr txBox="1"/>
          <p:nvPr/>
        </p:nvSpPr>
        <p:spPr>
          <a:xfrm>
            <a:off x="360000" y="2232000"/>
            <a:ext cx="5940000" cy="2735999"/>
          </a:xfrm>
          <a:prstGeom prst="rect">
            <a:avLst/>
          </a:prstGeom>
          <a:noFill/>
        </p:spPr>
        <p:txBody>
          <a:bodyPr wrap="square">
            <a:spAutoFit/>
          </a:bodyPr>
          <a:lstStyle/>
          <a:p>
            <a:pPr>
              <a:spcBef>
                <a:spcPts val="400"/>
              </a:spcBef>
              <a:spcAft>
                <a:spcPts val="200"/>
              </a:spcAft>
            </a:pPr>
            <a:r>
              <a:rPr sz="1300" b="1">
                <a:solidFill>
                  <a:srgbClr val="27AE60"/>
                </a:solidFill>
                <a:latin typeface="Calibri"/>
              </a:rPr>
              <a:t>✓  </a:t>
            </a:r>
            <a:r>
              <a:rPr sz="1300" b="1">
                <a:solidFill>
                  <a:srgbClr val="1A1A1A"/>
                </a:solidFill>
                <a:latin typeface="Calibri"/>
              </a:rPr>
              <a:t>Création et suivi de dossier avec statuts dynamiques</a:t>
            </a:r>
            <a:r>
              <a:rPr sz="1300" b="0">
                <a:solidFill>
                  <a:srgbClr val="555555"/>
                </a:solidFill>
                <a:latin typeface="Calibri"/>
              </a:rPr>
              <a:t> — Brouillon → Envoyée → Signée → Facturée → Payée, tout est tracé automatiquement</a:t>
            </a:r>
          </a:p>
          <a:p>
            <a:pPr>
              <a:spcBef>
                <a:spcPts val="400"/>
              </a:spcBef>
              <a:spcAft>
                <a:spcPts val="200"/>
              </a:spcAft>
            </a:pPr>
            <a:r>
              <a:rPr sz="1300" b="1">
                <a:solidFill>
                  <a:srgbClr val="27AE60"/>
                </a:solidFill>
                <a:latin typeface="Calibri"/>
              </a:rPr>
              <a:t>✓  </a:t>
            </a:r>
            <a:r>
              <a:rPr sz="1300" b="1">
                <a:solidFill>
                  <a:srgbClr val="1A1A1A"/>
                </a:solidFill>
                <a:latin typeface="Calibri"/>
              </a:rPr>
              <a:t>Signature électronique client intégrée</a:t>
            </a:r>
            <a:r>
              <a:rPr sz="1300" b="0">
                <a:solidFill>
                  <a:srgbClr val="555555"/>
                </a:solidFill>
                <a:latin typeface="Calibri"/>
              </a:rPr>
              <a:t> — Le client signe sur son téléphone ou son ordinateur, horodaté avec IP, valeur légale</a:t>
            </a:r>
          </a:p>
          <a:p>
            <a:pPr>
              <a:spcBef>
                <a:spcPts val="400"/>
              </a:spcBef>
              <a:spcAft>
                <a:spcPts val="200"/>
              </a:spcAft>
            </a:pPr>
            <a:r>
              <a:rPr sz="1300" b="1">
                <a:solidFill>
                  <a:srgbClr val="27AE60"/>
                </a:solidFill>
                <a:latin typeface="Calibri"/>
              </a:rPr>
              <a:t>✓  </a:t>
            </a:r>
            <a:r>
              <a:rPr sz="1300" b="1">
                <a:solidFill>
                  <a:srgbClr val="1A1A1A"/>
                </a:solidFill>
                <a:latin typeface="Calibri"/>
              </a:rPr>
              <a:t>Cycle complet soumission → contrat → facture</a:t>
            </a:r>
            <a:r>
              <a:rPr sz="1300" b="0">
                <a:solidFill>
                  <a:srgbClr val="555555"/>
                </a:solidFill>
                <a:latin typeface="Calibri"/>
              </a:rPr>
              <a:t> — Un seul dossier, du devis à l'encaissement, aucune ressaisie</a:t>
            </a:r>
          </a:p>
          <a:p>
            <a:pPr>
              <a:spcBef>
                <a:spcPts val="400"/>
              </a:spcBef>
              <a:spcAft>
                <a:spcPts val="200"/>
              </a:spcAft>
            </a:pPr>
            <a:r>
              <a:rPr sz="1300" b="1">
                <a:solidFill>
                  <a:srgbClr val="27AE60"/>
                </a:solidFill>
                <a:latin typeface="Calibri"/>
              </a:rPr>
              <a:t>✓  </a:t>
            </a:r>
            <a:r>
              <a:rPr sz="1300" b="1">
                <a:solidFill>
                  <a:srgbClr val="1A1A1A"/>
                </a:solidFill>
                <a:latin typeface="Calibri"/>
              </a:rPr>
              <a:t>Tableau de bord filtrable</a:t>
            </a:r>
            <a:r>
              <a:rPr sz="1300" b="0">
                <a:solidFill>
                  <a:srgbClr val="555555"/>
                </a:solidFill>
                <a:latin typeface="Calibri"/>
              </a:rPr>
              <a:t> — Par statut, date, représentant — visibilité totale sans chercher dans des fichiers</a:t>
            </a:r>
          </a:p>
        </p:txBody>
      </p:sp>
      <p:sp>
        <p:nvSpPr>
          <p:cNvPr id="6" name="Rectangle 5"/>
          <p:cNvSpPr/>
          <p:nvPr/>
        </p:nvSpPr>
        <p:spPr>
          <a:xfrm>
            <a:off x="360000" y="5436000"/>
            <a:ext cx="5940000" cy="1368000"/>
          </a:xfrm>
          <a:prstGeom prst="rect">
            <a:avLst/>
          </a:prstGeom>
          <a:solidFill>
            <a:srgbClr val="FFF0E8"/>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100" b="1">
                <a:solidFill>
                  <a:srgbClr val="FF6B35"/>
                </a:solidFill>
                <a:latin typeface="Calibri"/>
              </a:rPr>
              <a:t>Impact mesuré</a:t>
            </a:r>
          </a:p>
          <a:p>
            <a:pPr>
              <a:spcBef>
                <a:spcPts val="400"/>
              </a:spcBef>
            </a:pPr>
            <a:r>
              <a:rPr sz="1100">
                <a:solidFill>
                  <a:srgbClr val="1A1A1A"/>
                </a:solidFill>
                <a:latin typeface="Calibri"/>
              </a:rPr>
              <a:t>Des entreprises comparables ont réduit leur délai de génération de soumission de plusieurs jours à quelques minutes après automatisation. Cas documenté : 14 jours → 14 minutes dans une compagnie d'assurance.</a:t>
            </a:r>
          </a:p>
        </p:txBody>
      </p:sp>
      <p:sp>
        <p:nvSpPr>
          <p:cNvPr id="7" name="TextBox 6"/>
          <p:cNvSpPr txBox="1"/>
          <p:nvPr/>
        </p:nvSpPr>
        <p:spPr>
          <a:xfrm>
            <a:off x="180000" y="7302800"/>
            <a:ext cx="6480000" cy="203200"/>
          </a:xfrm>
          <a:prstGeom prst="rect">
            <a:avLst/>
          </a:prstGeom>
          <a:noFill/>
        </p:spPr>
        <p:txBody>
          <a:bodyPr wrap="none">
            <a:spAutoFit/>
          </a:bodyPr>
          <a:lstStyle/>
          <a:p>
            <a:r>
              <a:rPr sz="900" i="1">
                <a:solidFill>
                  <a:srgbClr val="999999"/>
                </a:solidFill>
                <a:latin typeface="Calibri"/>
              </a:rPr>
              <a:t>Source : Formstack, 2025</a:t>
            </a:r>
          </a:p>
        </p:txBody>
      </p:sp>
      <p:sp>
        <p:nvSpPr>
          <p:cNvPr id="8" name="TextBox 7"/>
          <p:cNvSpPr txBox="1"/>
          <p:nvPr/>
        </p:nvSpPr>
        <p:spPr>
          <a:xfrm>
            <a:off x="10933200" y="7302800"/>
            <a:ext cx="1080000" cy="203200"/>
          </a:xfrm>
          <a:prstGeom prst="rect">
            <a:avLst/>
          </a:prstGeom>
          <a:noFill/>
        </p:spPr>
        <p:txBody>
          <a:bodyPr wrap="none">
            <a:spAutoFit/>
          </a:bodyPr>
          <a:lstStyle/>
          <a:p>
            <a:pPr algn="r"/>
            <a:r>
              <a:rPr sz="900">
                <a:solidFill>
                  <a:srgbClr val="AAAAAA"/>
                </a:solidFill>
                <a:latin typeface="Calibri"/>
              </a:rPr>
              <a:t>3 / 15</a:t>
            </a:r>
          </a:p>
        </p:txBody>
      </p:sp>
      <p:sp>
        <p:nvSpPr>
          <p:cNvPr id="9" name="TextBox 8"/>
          <p:cNvSpPr txBox="1"/>
          <p:nvPr/>
        </p:nvSpPr>
        <p:spPr>
          <a:xfrm>
            <a:off x="360000" y="871200"/>
            <a:ext cx="5940000" cy="684000"/>
          </a:xfrm>
          <a:prstGeom prst="rect">
            <a:avLst/>
          </a:prstGeom>
          <a:noFill/>
        </p:spPr>
        <p:txBody>
          <a:bodyPr wrap="square">
            <a:spAutoFit/>
          </a:bodyPr>
          <a:lstStyle/>
          <a:p>
            <a:pPr>
              <a:lnSpc>
                <a:spcPct val="140000"/>
              </a:lnSpc>
            </a:pPr>
            <a:r>
              <a:rPr sz="1000" i="1" b="0">
                <a:solidFill>
                  <a:srgbClr val="444444"/>
                </a:solidFill>
              </a:rPr>
              <a:t>La majorité des PME gèrent encore leurs soumissions dans des fichiers Excel ou par courriel — ce qui multiplie les erreurs, les délais et les versions contradictoires. Notre module Soumissions centralise tout le cycle de vie d'un dossier dans un seul outil, du premier contact jusqu'à l'encaissement. Chaque étape est tracée, chaque document est généré automatiquement.</a:t>
            </a:r>
          </a:p>
        </p:txBody>
      </p:sp>
      <p:sp>
        <p:nvSpPr>
          <p:cNvPr id="10" name="Rectangle 9"/>
          <p:cNvSpPr/>
          <p:nvPr/>
        </p:nvSpPr>
        <p:spPr>
          <a:xfrm>
            <a:off x="6451200" y="2124000"/>
            <a:ext cx="5097600" cy="3207600"/>
          </a:xfrm>
          <a:prstGeom prst="rect">
            <a:avLst/>
          </a:prstGeom>
          <a:no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m_soumissions.png"/>
          <p:cNvPicPr>
            <a:picLocks noChangeAspect="1"/>
          </p:cNvPicPr>
          <p:nvPr/>
        </p:nvPicPr>
        <p:blipFill>
          <a:blip r:embed="rId2"/>
          <a:stretch>
            <a:fillRect/>
          </a:stretch>
        </p:blipFill>
        <p:spPr>
          <a:xfrm>
            <a:off x="6480000" y="2124000"/>
            <a:ext cx="5040000" cy="3150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3200" cy="127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80000"/>
            <a:ext cx="11473200" cy="503999"/>
          </a:xfrm>
          <a:prstGeom prst="rect">
            <a:avLst/>
          </a:prstGeom>
          <a:noFill/>
        </p:spPr>
        <p:txBody>
          <a:bodyPr wrap="square">
            <a:spAutoFit/>
          </a:bodyPr>
          <a:lstStyle/>
          <a:p>
            <a:r>
              <a:rPr sz="2000" b="1">
                <a:solidFill>
                  <a:srgbClr val="1A1A1A"/>
                </a:solidFill>
                <a:latin typeface="Calibri"/>
              </a:rPr>
              <a:t>Soumissions — Modules additionnels inclus</a:t>
            </a:r>
          </a:p>
        </p:txBody>
      </p:sp>
      <p:sp>
        <p:nvSpPr>
          <p:cNvPr id="4" name="Rectangle 3"/>
          <p:cNvSpPr/>
          <p:nvPr/>
        </p:nvSpPr>
        <p:spPr>
          <a:xfrm>
            <a:off x="360000" y="1404000"/>
            <a:ext cx="1942857" cy="19800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Calibri"/>
              </a:rPr>
              <a:t>Plateforme complète</a:t>
            </a:r>
          </a:p>
        </p:txBody>
      </p:sp>
      <p:sp>
        <p:nvSpPr>
          <p:cNvPr id="5" name="TextBox 4"/>
          <p:cNvSpPr txBox="1"/>
          <p:nvPr/>
        </p:nvSpPr>
        <p:spPr>
          <a:xfrm>
            <a:off x="360000" y="1728000"/>
            <a:ext cx="5376600" cy="5400000"/>
          </a:xfrm>
          <a:prstGeom prst="rect">
            <a:avLst/>
          </a:prstGeom>
          <a:noFill/>
        </p:spPr>
        <p:txBody>
          <a:bodyPr wrap="square">
            <a:spAutoFit/>
          </a:bodyPr>
          <a:lstStyle/>
          <a:p>
            <a:pPr>
              <a:spcBef>
                <a:spcPts val="400"/>
              </a:spcBef>
              <a:spcAft>
                <a:spcPts val="200"/>
              </a:spcAft>
            </a:pPr>
            <a:r>
              <a:rPr sz="1300" b="1">
                <a:solidFill>
                  <a:srgbClr val="27AE60"/>
                </a:solidFill>
                <a:latin typeface="Calibri"/>
              </a:rPr>
              <a:t>✓  </a:t>
            </a:r>
            <a:r>
              <a:rPr sz="1300" b="1">
                <a:solidFill>
                  <a:srgbClr val="1A1A1A"/>
                </a:solidFill>
                <a:latin typeface="Calibri"/>
              </a:rPr>
              <a:t>Sondages de satisfaction automatiques</a:t>
            </a:r>
            <a:r>
              <a:rPr sz="1300" b="0">
                <a:solidFill>
                  <a:srgbClr val="555555"/>
                </a:solidFill>
                <a:latin typeface="Calibri"/>
              </a:rPr>
              <a:t> — Envoyés après installation, redirigent vers Google Reviews si score ≥ 8/10</a:t>
            </a:r>
          </a:p>
          <a:p>
            <a:pPr>
              <a:spcBef>
                <a:spcPts val="400"/>
              </a:spcBef>
              <a:spcAft>
                <a:spcPts val="200"/>
              </a:spcAft>
            </a:pPr>
            <a:r>
              <a:rPr sz="1300" b="1">
                <a:solidFill>
                  <a:srgbClr val="27AE60"/>
                </a:solidFill>
                <a:latin typeface="Calibri"/>
              </a:rPr>
              <a:t>✓  </a:t>
            </a:r>
            <a:r>
              <a:rPr sz="1300" b="1">
                <a:solidFill>
                  <a:srgbClr val="1A1A1A"/>
                </a:solidFill>
                <a:latin typeface="Calibri"/>
              </a:rPr>
              <a:t>Page de garanties automatisée</a:t>
            </a:r>
            <a:r>
              <a:rPr sz="1300" b="0">
                <a:solidFill>
                  <a:srgbClr val="555555"/>
                </a:solidFill>
                <a:latin typeface="Calibri"/>
              </a:rPr>
              <a:t> — Générée et reliée à chaque dossier, sans aucune action manuelle</a:t>
            </a:r>
          </a:p>
          <a:p>
            <a:pPr>
              <a:spcBef>
                <a:spcPts val="400"/>
              </a:spcBef>
              <a:spcAft>
                <a:spcPts val="200"/>
              </a:spcAft>
            </a:pPr>
            <a:r>
              <a:rPr sz="1300" b="1">
                <a:solidFill>
                  <a:srgbClr val="27AE60"/>
                </a:solidFill>
                <a:latin typeface="Calibri"/>
              </a:rPr>
              <a:t>✓  </a:t>
            </a:r>
            <a:r>
              <a:rPr sz="1300" b="1">
                <a:solidFill>
                  <a:srgbClr val="1A1A1A"/>
                </a:solidFill>
                <a:latin typeface="Calibri"/>
              </a:rPr>
              <a:t>Catalogue avec calculateurs intégrés</a:t>
            </a:r>
            <a:r>
              <a:rPr sz="1300" b="0">
                <a:solidFill>
                  <a:srgbClr val="555555"/>
                </a:solidFill>
                <a:latin typeface="Calibri"/>
              </a:rPr>
              <a:t> — Conversion de devises et grille tarifaire calculées à la volée</a:t>
            </a:r>
          </a:p>
          <a:p>
            <a:pPr>
              <a:spcBef>
                <a:spcPts val="400"/>
              </a:spcBef>
              <a:spcAft>
                <a:spcPts val="200"/>
              </a:spcAft>
            </a:pPr>
            <a:r>
              <a:rPr sz="1300" b="1">
                <a:solidFill>
                  <a:srgbClr val="27AE60"/>
                </a:solidFill>
                <a:latin typeface="Calibri"/>
              </a:rPr>
              <a:t>✓  </a:t>
            </a:r>
            <a:r>
              <a:rPr sz="1300" b="1">
                <a:solidFill>
                  <a:srgbClr val="1A1A1A"/>
                </a:solidFill>
                <a:latin typeface="Calibri"/>
              </a:rPr>
              <a:t>Gestion des distributeurs régionaux</a:t>
            </a:r>
            <a:r>
              <a:rPr sz="1300" b="0">
                <a:solidFill>
                  <a:srgbClr val="555555"/>
                </a:solidFill>
                <a:latin typeface="Calibri"/>
              </a:rPr>
              <a:t> — Transfert de dossier en un clic, bon de travail envoyé automatiquement</a:t>
            </a:r>
          </a:p>
        </p:txBody>
      </p:sp>
      <p:sp>
        <p:nvSpPr>
          <p:cNvPr id="6" name="TextBox 5"/>
          <p:cNvSpPr txBox="1"/>
          <p:nvPr/>
        </p:nvSpPr>
        <p:spPr>
          <a:xfrm>
            <a:off x="6096600" y="1728000"/>
            <a:ext cx="5376600" cy="5400000"/>
          </a:xfrm>
          <a:prstGeom prst="rect">
            <a:avLst/>
          </a:prstGeom>
          <a:noFill/>
        </p:spPr>
        <p:txBody>
          <a:bodyPr wrap="square">
            <a:spAutoFit/>
          </a:bodyPr>
          <a:lstStyle/>
          <a:p>
            <a:pPr>
              <a:spcBef>
                <a:spcPts val="400"/>
              </a:spcBef>
              <a:spcAft>
                <a:spcPts val="200"/>
              </a:spcAft>
            </a:pPr>
            <a:r>
              <a:rPr sz="1300" b="1">
                <a:solidFill>
                  <a:srgbClr val="27AE60"/>
                </a:solidFill>
                <a:latin typeface="Calibri"/>
              </a:rPr>
              <a:t>✓  </a:t>
            </a:r>
            <a:r>
              <a:rPr sz="1300" b="1">
                <a:solidFill>
                  <a:srgbClr val="1A1A1A"/>
                </a:solidFill>
                <a:latin typeface="Calibri"/>
              </a:rPr>
              <a:t>Comptabilité et suivi de paiements</a:t>
            </a:r>
            <a:r>
              <a:rPr sz="1300" b="0">
                <a:solidFill>
                  <a:srgbClr val="555555"/>
                </a:solidFill>
                <a:latin typeface="Calibri"/>
              </a:rPr>
              <a:t> — Versements multiples, statut calculé, facturation anti-duplication</a:t>
            </a:r>
          </a:p>
          <a:p>
            <a:pPr>
              <a:spcBef>
                <a:spcPts val="400"/>
              </a:spcBef>
              <a:spcAft>
                <a:spcPts val="200"/>
              </a:spcAft>
            </a:pPr>
            <a:r>
              <a:rPr sz="1300" b="1">
                <a:solidFill>
                  <a:srgbClr val="27AE60"/>
                </a:solidFill>
                <a:latin typeface="Calibri"/>
              </a:rPr>
              <a:t>✓  </a:t>
            </a:r>
            <a:r>
              <a:rPr sz="1300" b="1">
                <a:solidFill>
                  <a:srgbClr val="1A1A1A"/>
                </a:solidFill>
                <a:latin typeface="Calibri"/>
              </a:rPr>
              <a:t>Permissions multi-utilisateurs</a:t>
            </a:r>
            <a:r>
              <a:rPr sz="1300" b="0">
                <a:solidFill>
                  <a:srgbClr val="555555"/>
                </a:solidFill>
                <a:latin typeface="Calibri"/>
              </a:rPr>
              <a:t> — Chaque employé voit seulement ce qu'il doit voir</a:t>
            </a:r>
          </a:p>
          <a:p>
            <a:pPr>
              <a:spcBef>
                <a:spcPts val="400"/>
              </a:spcBef>
              <a:spcAft>
                <a:spcPts val="200"/>
              </a:spcAft>
            </a:pPr>
            <a:r>
              <a:rPr sz="1300" b="1">
                <a:solidFill>
                  <a:srgbClr val="27AE60"/>
                </a:solidFill>
                <a:latin typeface="Calibri"/>
              </a:rPr>
              <a:t>✓  </a:t>
            </a:r>
            <a:r>
              <a:rPr sz="1300" b="1">
                <a:solidFill>
                  <a:srgbClr val="1A1A1A"/>
                </a:solidFill>
                <a:latin typeface="Calibri"/>
              </a:rPr>
              <a:t>Photos de projet organisées</a:t>
            </a:r>
            <a:r>
              <a:rPr sz="1300" b="0">
                <a:solidFill>
                  <a:srgbClr val="555555"/>
                </a:solidFill>
                <a:latin typeface="Calibri"/>
              </a:rPr>
              <a:t> — Téléversées par catégorie, stockées en nuage</a:t>
            </a:r>
          </a:p>
          <a:p>
            <a:pPr>
              <a:spcBef>
                <a:spcPts val="400"/>
              </a:spcBef>
              <a:spcAft>
                <a:spcPts val="200"/>
              </a:spcAft>
            </a:pPr>
            <a:r>
              <a:rPr sz="1300" b="1">
                <a:solidFill>
                  <a:srgbClr val="27AE60"/>
                </a:solidFill>
                <a:latin typeface="Calibri"/>
              </a:rPr>
              <a:t>✓  </a:t>
            </a:r>
            <a:r>
              <a:rPr sz="1300" b="1">
                <a:solidFill>
                  <a:srgbClr val="1A1A1A"/>
                </a:solidFill>
                <a:latin typeface="Calibri"/>
              </a:rPr>
              <a:t>Guide interne intégré</a:t>
            </a:r>
            <a:r>
              <a:rPr sz="1300" b="0">
                <a:solidFill>
                  <a:srgbClr val="555555"/>
                </a:solidFill>
                <a:latin typeface="Calibri"/>
              </a:rPr>
              <a:t> — Documentation pour l'équipe accessible en tout temps</a:t>
            </a:r>
          </a:p>
        </p:txBody>
      </p:sp>
      <p:sp>
        <p:nvSpPr>
          <p:cNvPr id="7" name="TextBox 6"/>
          <p:cNvSpPr txBox="1"/>
          <p:nvPr/>
        </p:nvSpPr>
        <p:spPr>
          <a:xfrm>
            <a:off x="10933200" y="7302800"/>
            <a:ext cx="1080000" cy="203200"/>
          </a:xfrm>
          <a:prstGeom prst="rect">
            <a:avLst/>
          </a:prstGeom>
          <a:noFill/>
        </p:spPr>
        <p:txBody>
          <a:bodyPr wrap="none">
            <a:spAutoFit/>
          </a:bodyPr>
          <a:lstStyle/>
          <a:p>
            <a:pPr algn="r"/>
            <a:r>
              <a:rPr sz="900">
                <a:solidFill>
                  <a:srgbClr val="AAAAAA"/>
                </a:solidFill>
                <a:latin typeface="Calibri"/>
              </a:rPr>
              <a:t>4 / 15</a:t>
            </a:r>
          </a:p>
        </p:txBody>
      </p:sp>
      <p:sp>
        <p:nvSpPr>
          <p:cNvPr id="8" name="TextBox 7"/>
          <p:cNvSpPr txBox="1"/>
          <p:nvPr/>
        </p:nvSpPr>
        <p:spPr>
          <a:xfrm>
            <a:off x="360000" y="871200"/>
            <a:ext cx="11473200" cy="684000"/>
          </a:xfrm>
          <a:prstGeom prst="rect">
            <a:avLst/>
          </a:prstGeom>
          <a:noFill/>
        </p:spPr>
        <p:txBody>
          <a:bodyPr wrap="square">
            <a:spAutoFit/>
          </a:bodyPr>
          <a:lstStyle/>
          <a:p>
            <a:pPr>
              <a:lnSpc>
                <a:spcPct val="140000"/>
              </a:lnSpc>
            </a:pPr>
            <a:r>
              <a:rPr sz="1000" i="1" b="0">
                <a:solidFill>
                  <a:srgbClr val="444444"/>
                </a:solidFill>
              </a:rPr>
              <a:t>Au-delà du dossier de base, la plateforme inclut un écosystème complet de modules qui travaillent ensemble sans intervention manuelle. Ces fonctionnalités sont incluses dans le même outil — aucun abonnement supplémentaire, aucune intégration à configurer.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3200" cy="127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80000"/>
            <a:ext cx="11473200" cy="503999"/>
          </a:xfrm>
          <a:prstGeom prst="rect">
            <a:avLst/>
          </a:prstGeom>
          <a:noFill/>
        </p:spPr>
        <p:txBody>
          <a:bodyPr wrap="square">
            <a:spAutoFit/>
          </a:bodyPr>
          <a:lstStyle/>
          <a:p>
            <a:r>
              <a:rPr sz="2000" b="1">
                <a:solidFill>
                  <a:srgbClr val="1A1A1A"/>
                </a:solidFill>
                <a:latin typeface="Calibri"/>
              </a:rPr>
              <a:t>Tournée — Optimisation des déplacements terrain</a:t>
            </a:r>
          </a:p>
        </p:txBody>
      </p:sp>
      <p:sp>
        <p:nvSpPr>
          <p:cNvPr id="4" name="TextBox 3"/>
          <p:cNvSpPr txBox="1"/>
          <p:nvPr/>
        </p:nvSpPr>
        <p:spPr>
          <a:xfrm>
            <a:off x="360000" y="1476000"/>
            <a:ext cx="5940000" cy="2880000"/>
          </a:xfrm>
          <a:prstGeom prst="rect">
            <a:avLst/>
          </a:prstGeom>
          <a:noFill/>
        </p:spPr>
        <p:txBody>
          <a:bodyPr wrap="square">
            <a:spAutoFit/>
          </a:bodyPr>
          <a:lstStyle/>
          <a:p>
            <a:pPr>
              <a:spcBef>
                <a:spcPts val="400"/>
              </a:spcBef>
              <a:spcAft>
                <a:spcPts val="200"/>
              </a:spcAft>
            </a:pPr>
            <a:r>
              <a:rPr sz="1300" b="1">
                <a:solidFill>
                  <a:srgbClr val="27AE60"/>
                </a:solidFill>
                <a:latin typeface="Calibri"/>
              </a:rPr>
              <a:t>✓  </a:t>
            </a:r>
            <a:r>
              <a:rPr sz="1300" b="1">
                <a:solidFill>
                  <a:srgbClr val="1A1A1A"/>
                </a:solidFill>
                <a:latin typeface="Calibri"/>
              </a:rPr>
              <a:t>Trajet optimisé automatiquement</a:t>
            </a:r>
            <a:r>
              <a:rPr sz="1300" b="0">
                <a:solidFill>
                  <a:srgbClr val="555555"/>
                </a:solidFill>
                <a:latin typeface="Calibri"/>
              </a:rPr>
              <a:t> — Les arrêts du jour sont réordonnés pour minimiser la distance parcourue</a:t>
            </a:r>
          </a:p>
          <a:p>
            <a:pPr>
              <a:spcBef>
                <a:spcPts val="400"/>
              </a:spcBef>
              <a:spcAft>
                <a:spcPts val="200"/>
              </a:spcAft>
            </a:pPr>
            <a:r>
              <a:rPr sz="1300" b="1">
                <a:solidFill>
                  <a:srgbClr val="27AE60"/>
                </a:solidFill>
                <a:latin typeface="Calibri"/>
              </a:rPr>
              <a:t>✓  </a:t>
            </a:r>
            <a:r>
              <a:rPr sz="1300" b="1">
                <a:solidFill>
                  <a:srgbClr val="1A1A1A"/>
                </a:solidFill>
                <a:latin typeface="Calibri"/>
              </a:rPr>
              <a:t>Suivi en direct de la position et du statut</a:t>
            </a:r>
            <a:r>
              <a:rPr sz="1300" b="0">
                <a:solidFill>
                  <a:srgbClr val="555555"/>
                </a:solidFill>
                <a:latin typeface="Calibri"/>
              </a:rPr>
              <a:t> — L'équipe au bureau voit en temps réel où en est l'équipe terrain, sans appel</a:t>
            </a:r>
          </a:p>
          <a:p>
            <a:pPr>
              <a:spcBef>
                <a:spcPts val="400"/>
              </a:spcBef>
              <a:spcAft>
                <a:spcPts val="200"/>
              </a:spcAft>
            </a:pPr>
            <a:r>
              <a:rPr sz="1300" b="1">
                <a:solidFill>
                  <a:srgbClr val="27AE60"/>
                </a:solidFill>
                <a:latin typeface="Calibri"/>
              </a:rPr>
              <a:t>✓  </a:t>
            </a:r>
            <a:r>
              <a:rPr sz="1300" b="1">
                <a:solidFill>
                  <a:srgbClr val="1A1A1A"/>
                </a:solidFill>
                <a:latin typeface="Calibri"/>
              </a:rPr>
              <a:t>Accès mobile complet</a:t>
            </a:r>
            <a:r>
              <a:rPr sz="1300" b="0">
                <a:solidFill>
                  <a:srgbClr val="555555"/>
                </a:solidFill>
                <a:latin typeface="Calibri"/>
              </a:rPr>
              <a:t> — Planifié sur bureau, consulté sur le terrain depuis l'écran d'accueil du téléphone</a:t>
            </a:r>
          </a:p>
        </p:txBody>
      </p:sp>
      <p:sp>
        <p:nvSpPr>
          <p:cNvPr id="5" name="Rectangle 4"/>
          <p:cNvSpPr/>
          <p:nvPr/>
        </p:nvSpPr>
        <p:spPr>
          <a:xfrm>
            <a:off x="360000" y="4896000"/>
            <a:ext cx="5940000" cy="1440000"/>
          </a:xfrm>
          <a:prstGeom prst="rect">
            <a:avLst/>
          </a:prstGeom>
          <a:solidFill>
            <a:srgbClr val="FFF0E8"/>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100" b="1">
                <a:solidFill>
                  <a:srgbClr val="FF6B35"/>
                </a:solidFill>
                <a:latin typeface="Calibri"/>
              </a:rPr>
              <a:t>Impact mesuré</a:t>
            </a:r>
          </a:p>
          <a:p>
            <a:pPr>
              <a:spcBef>
                <a:spcPts val="400"/>
              </a:spcBef>
            </a:pPr>
            <a:r>
              <a:rPr sz="1100">
                <a:solidFill>
                  <a:srgbClr val="1A1A1A"/>
                </a:solidFill>
                <a:latin typeface="Calibri"/>
              </a:rPr>
              <a:t>Le temps de conduite baisse typiquement de 15 à 30% avec l'optimisation automatique de trajet. 15 minutes sauvées par déplacement peuvent libérer jusqu'à 1 heure facturable de plus par jour.</a:t>
            </a:r>
          </a:p>
        </p:txBody>
      </p:sp>
      <p:sp>
        <p:nvSpPr>
          <p:cNvPr id="6" name="TextBox 5"/>
          <p:cNvSpPr txBox="1"/>
          <p:nvPr/>
        </p:nvSpPr>
        <p:spPr>
          <a:xfrm>
            <a:off x="180000" y="7302800"/>
            <a:ext cx="6480000" cy="203200"/>
          </a:xfrm>
          <a:prstGeom prst="rect">
            <a:avLst/>
          </a:prstGeom>
          <a:noFill/>
        </p:spPr>
        <p:txBody>
          <a:bodyPr wrap="none">
            <a:spAutoFit/>
          </a:bodyPr>
          <a:lstStyle/>
          <a:p>
            <a:r>
              <a:rPr sz="900" i="1">
                <a:solidFill>
                  <a:srgbClr val="999999"/>
                </a:solidFill>
                <a:latin typeface="Calibri"/>
              </a:rPr>
              <a:t>Sources : Timefold, 2026 — Repair-CRM, 2026</a:t>
            </a:r>
          </a:p>
        </p:txBody>
      </p:sp>
      <p:sp>
        <p:nvSpPr>
          <p:cNvPr id="7" name="TextBox 6"/>
          <p:cNvSpPr txBox="1"/>
          <p:nvPr/>
        </p:nvSpPr>
        <p:spPr>
          <a:xfrm>
            <a:off x="10933200" y="7302800"/>
            <a:ext cx="1080000" cy="203200"/>
          </a:xfrm>
          <a:prstGeom prst="rect">
            <a:avLst/>
          </a:prstGeom>
          <a:noFill/>
        </p:spPr>
        <p:txBody>
          <a:bodyPr wrap="none">
            <a:spAutoFit/>
          </a:bodyPr>
          <a:lstStyle/>
          <a:p>
            <a:pPr algn="r"/>
            <a:r>
              <a:rPr sz="900">
                <a:solidFill>
                  <a:srgbClr val="AAAAAA"/>
                </a:solidFill>
                <a:latin typeface="Calibri"/>
              </a:rPr>
              <a:t>5 / 15</a:t>
            </a:r>
          </a:p>
        </p:txBody>
      </p:sp>
      <p:sp>
        <p:nvSpPr>
          <p:cNvPr id="8" name="TextBox 7"/>
          <p:cNvSpPr txBox="1"/>
          <p:nvPr/>
        </p:nvSpPr>
        <p:spPr>
          <a:xfrm>
            <a:off x="360000" y="691200"/>
            <a:ext cx="5940000" cy="684000"/>
          </a:xfrm>
          <a:prstGeom prst="rect">
            <a:avLst/>
          </a:prstGeom>
          <a:noFill/>
        </p:spPr>
        <p:txBody>
          <a:bodyPr wrap="square">
            <a:spAutoFit/>
          </a:bodyPr>
          <a:lstStyle/>
          <a:p>
            <a:pPr>
              <a:lnSpc>
                <a:spcPct val="140000"/>
              </a:lnSpc>
            </a:pPr>
            <a:r>
              <a:rPr sz="1000" i="1" b="0">
                <a:solidFill>
                  <a:srgbClr val="444444"/>
                </a:solidFill>
              </a:rPr>
              <a:t>Coordonner une équipe terrain par téléphone, c'est du temps perdu pour tout le monde — l'équipe bureau ne sait pas où en est l'équipe terrain, et l'équipe terrain doit conduire sans itinéraire optimisé. Notre module Tournée résout les deux problèmes simultanément.</a:t>
            </a:r>
          </a:p>
        </p:txBody>
      </p:sp>
      <p:sp>
        <p:nvSpPr>
          <p:cNvPr id="9" name="Rectangle 8"/>
          <p:cNvSpPr/>
          <p:nvPr/>
        </p:nvSpPr>
        <p:spPr>
          <a:xfrm>
            <a:off x="6451200" y="1591200"/>
            <a:ext cx="5097600" cy="3207600"/>
          </a:xfrm>
          <a:prstGeom prst="rect">
            <a:avLst/>
          </a:prstGeom>
          <a:no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m_tournee.png"/>
          <p:cNvPicPr>
            <a:picLocks noChangeAspect="1"/>
          </p:cNvPicPr>
          <p:nvPr/>
        </p:nvPicPr>
        <p:blipFill>
          <a:blip r:embed="rId2"/>
          <a:stretch>
            <a:fillRect/>
          </a:stretch>
        </p:blipFill>
        <p:spPr>
          <a:xfrm>
            <a:off x="6480000" y="1620000"/>
            <a:ext cx="5040000" cy="3150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3200" cy="127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80000"/>
            <a:ext cx="11473200" cy="503999"/>
          </a:xfrm>
          <a:prstGeom prst="rect">
            <a:avLst/>
          </a:prstGeom>
          <a:noFill/>
        </p:spPr>
        <p:txBody>
          <a:bodyPr wrap="square">
            <a:spAutoFit/>
          </a:bodyPr>
          <a:lstStyle/>
          <a:p>
            <a:r>
              <a:rPr sz="2000" b="1">
                <a:solidFill>
                  <a:srgbClr val="1A1A1A"/>
                </a:solidFill>
                <a:latin typeface="Calibri"/>
              </a:rPr>
              <a:t>Production — Documents d'atelier générés automatiquement</a:t>
            </a:r>
          </a:p>
        </p:txBody>
      </p:sp>
      <p:sp>
        <p:nvSpPr>
          <p:cNvPr id="4" name="Rectangle 3"/>
          <p:cNvSpPr/>
          <p:nvPr/>
        </p:nvSpPr>
        <p:spPr>
          <a:xfrm>
            <a:off x="360000" y="1584000"/>
            <a:ext cx="2298412" cy="19800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Calibri"/>
              </a:rPr>
              <a:t>Génération de documents</a:t>
            </a:r>
          </a:p>
        </p:txBody>
      </p:sp>
      <p:sp>
        <p:nvSpPr>
          <p:cNvPr id="5" name="TextBox 4"/>
          <p:cNvSpPr txBox="1"/>
          <p:nvPr/>
        </p:nvSpPr>
        <p:spPr>
          <a:xfrm>
            <a:off x="360000" y="1835999"/>
            <a:ext cx="5940000" cy="4932000"/>
          </a:xfrm>
          <a:prstGeom prst="rect">
            <a:avLst/>
          </a:prstGeom>
          <a:noFill/>
        </p:spPr>
        <p:txBody>
          <a:bodyPr wrap="square">
            <a:spAutoFit/>
          </a:bodyPr>
          <a:lstStyle/>
          <a:p>
            <a:pPr>
              <a:spcBef>
                <a:spcPts val="400"/>
              </a:spcBef>
              <a:spcAft>
                <a:spcPts val="200"/>
              </a:spcAft>
            </a:pPr>
            <a:r>
              <a:rPr sz="1300" b="1">
                <a:solidFill>
                  <a:srgbClr val="27AE60"/>
                </a:solidFill>
                <a:latin typeface="Calibri"/>
              </a:rPr>
              <a:t>✓  </a:t>
            </a:r>
            <a:r>
              <a:rPr sz="1300" b="1">
                <a:solidFill>
                  <a:srgbClr val="1A1A1A"/>
                </a:solidFill>
                <a:latin typeface="Calibri"/>
              </a:rPr>
              <a:t>Calculs structuraux automatiques</a:t>
            </a:r>
            <a:r>
              <a:rPr sz="1300" b="0">
                <a:solidFill>
                  <a:srgbClr val="555555"/>
                </a:solidFill>
                <a:latin typeface="Calibri"/>
              </a:rPr>
              <a:t> — Dimensionnement des profils calculé selon les normes, sans formule manuelle</a:t>
            </a:r>
          </a:p>
          <a:p>
            <a:pPr>
              <a:spcBef>
                <a:spcPts val="400"/>
              </a:spcBef>
              <a:spcAft>
                <a:spcPts val="200"/>
              </a:spcAft>
            </a:pPr>
            <a:r>
              <a:rPr sz="1300" b="1">
                <a:solidFill>
                  <a:srgbClr val="27AE60"/>
                </a:solidFill>
                <a:latin typeface="Calibri"/>
              </a:rPr>
              <a:t>✓  </a:t>
            </a:r>
            <a:r>
              <a:rPr sz="1300" b="1">
                <a:solidFill>
                  <a:srgbClr val="1A1A1A"/>
                </a:solidFill>
                <a:latin typeface="Calibri"/>
              </a:rPr>
              <a:t>Feuilles de production et d'atelier générées</a:t>
            </a:r>
            <a:r>
              <a:rPr sz="1300" b="0">
                <a:solidFill>
                  <a:srgbClr val="555555"/>
                </a:solidFill>
                <a:latin typeface="Calibri"/>
              </a:rPr>
              <a:t> — Les documents de fabrication sont créés en quelques secondes</a:t>
            </a:r>
          </a:p>
          <a:p>
            <a:pPr>
              <a:spcBef>
                <a:spcPts val="400"/>
              </a:spcBef>
              <a:spcAft>
                <a:spcPts val="200"/>
              </a:spcAft>
            </a:pPr>
            <a:r>
              <a:rPr sz="1300" b="1">
                <a:solidFill>
                  <a:srgbClr val="27AE60"/>
                </a:solidFill>
                <a:latin typeface="Calibri"/>
              </a:rPr>
              <a:t>✓  </a:t>
            </a:r>
            <a:r>
              <a:rPr sz="1300" b="1">
                <a:solidFill>
                  <a:srgbClr val="1A1A1A"/>
                </a:solidFill>
                <a:latin typeface="Calibri"/>
              </a:rPr>
              <a:t>Documents client professionnels sans mise en page</a:t>
            </a:r>
            <a:r>
              <a:rPr sz="1300" b="0">
                <a:solidFill>
                  <a:srgbClr val="555555"/>
                </a:solidFill>
                <a:latin typeface="Calibri"/>
              </a:rPr>
              <a:t> — Propositions et confirmations générées automatiquement</a:t>
            </a:r>
          </a:p>
          <a:p>
            <a:pPr>
              <a:spcBef>
                <a:spcPts val="400"/>
              </a:spcBef>
              <a:spcAft>
                <a:spcPts val="200"/>
              </a:spcAft>
            </a:pPr>
            <a:r>
              <a:rPr sz="1300" b="1">
                <a:solidFill>
                  <a:srgbClr val="27AE60"/>
                </a:solidFill>
                <a:latin typeface="Calibri"/>
              </a:rPr>
              <a:t>✓  </a:t>
            </a:r>
            <a:r>
              <a:rPr sz="1300" b="1">
                <a:solidFill>
                  <a:srgbClr val="1A1A1A"/>
                </a:solidFill>
                <a:latin typeface="Calibri"/>
              </a:rPr>
              <a:t>Grilles tarifaires centralisées</a:t>
            </a:r>
            <a:r>
              <a:rPr sz="1300" b="0">
                <a:solidFill>
                  <a:srgbClr val="555555"/>
                </a:solidFill>
                <a:latin typeface="Calibri"/>
              </a:rPr>
              <a:t> — Prix à jour pour tous, en tout temps</a:t>
            </a:r>
          </a:p>
        </p:txBody>
      </p:sp>
      <p:sp>
        <p:nvSpPr>
          <p:cNvPr id="6" name="TextBox 5"/>
          <p:cNvSpPr txBox="1"/>
          <p:nvPr/>
        </p:nvSpPr>
        <p:spPr>
          <a:xfrm>
            <a:off x="10933200" y="7302800"/>
            <a:ext cx="1080000" cy="203200"/>
          </a:xfrm>
          <a:prstGeom prst="rect">
            <a:avLst/>
          </a:prstGeom>
          <a:noFill/>
        </p:spPr>
        <p:txBody>
          <a:bodyPr wrap="none">
            <a:spAutoFit/>
          </a:bodyPr>
          <a:lstStyle/>
          <a:p>
            <a:pPr algn="r"/>
            <a:r>
              <a:rPr sz="900">
                <a:solidFill>
                  <a:srgbClr val="AAAAAA"/>
                </a:solidFill>
                <a:latin typeface="Calibri"/>
              </a:rPr>
              <a:t>6 / 15</a:t>
            </a:r>
          </a:p>
        </p:txBody>
      </p:sp>
      <p:sp>
        <p:nvSpPr>
          <p:cNvPr id="7" name="TextBox 6"/>
          <p:cNvSpPr txBox="1"/>
          <p:nvPr/>
        </p:nvSpPr>
        <p:spPr>
          <a:xfrm>
            <a:off x="360000" y="871200"/>
            <a:ext cx="5940000" cy="684000"/>
          </a:xfrm>
          <a:prstGeom prst="rect">
            <a:avLst/>
          </a:prstGeom>
          <a:noFill/>
        </p:spPr>
        <p:txBody>
          <a:bodyPr wrap="square">
            <a:spAutoFit/>
          </a:bodyPr>
          <a:lstStyle/>
          <a:p>
            <a:pPr>
              <a:lnSpc>
                <a:spcPct val="140000"/>
              </a:lnSpc>
            </a:pPr>
            <a:r>
              <a:rPr sz="1000" i="1" b="0">
                <a:solidFill>
                  <a:srgbClr val="444444"/>
                </a:solidFill>
              </a:rPr>
              <a:t>La préparation des documents de fabrication est souvent l'étape la plus chronophage — chaque mesure doit être convertie, chaque feuille mise en page manuellement. Notre module Production automatise la totalité de ce processus, de la saisie des dimensions jusqu'au document d'atelier imprimable.</a:t>
            </a:r>
          </a:p>
        </p:txBody>
      </p:sp>
      <p:sp>
        <p:nvSpPr>
          <p:cNvPr id="8" name="Rectangle 7"/>
          <p:cNvSpPr/>
          <p:nvPr/>
        </p:nvSpPr>
        <p:spPr>
          <a:xfrm>
            <a:off x="6451200" y="1764000"/>
            <a:ext cx="5097600" cy="3207600"/>
          </a:xfrm>
          <a:prstGeom prst="rect">
            <a:avLst/>
          </a:prstGeom>
          <a:no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p_production.png"/>
          <p:cNvPicPr>
            <a:picLocks noChangeAspect="1"/>
          </p:cNvPicPr>
          <p:nvPr/>
        </p:nvPicPr>
        <p:blipFill>
          <a:blip r:embed="rId2"/>
          <a:stretch>
            <a:fillRect/>
          </a:stretch>
        </p:blipFill>
        <p:spPr>
          <a:xfrm>
            <a:off x="6480000" y="1764000"/>
            <a:ext cx="5040000" cy="3150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3200" cy="127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80000"/>
            <a:ext cx="11473200" cy="503999"/>
          </a:xfrm>
          <a:prstGeom prst="rect">
            <a:avLst/>
          </a:prstGeom>
          <a:noFill/>
        </p:spPr>
        <p:txBody>
          <a:bodyPr wrap="square">
            <a:spAutoFit/>
          </a:bodyPr>
          <a:lstStyle/>
          <a:p>
            <a:r>
              <a:rPr sz="2000" b="1">
                <a:solidFill>
                  <a:srgbClr val="1A1A1A"/>
                </a:solidFill>
                <a:latin typeface="Calibri"/>
              </a:rPr>
              <a:t>Production — Précision technique et contrôle</a:t>
            </a:r>
          </a:p>
        </p:txBody>
      </p:sp>
      <p:sp>
        <p:nvSpPr>
          <p:cNvPr id="4" name="Rectangle 3"/>
          <p:cNvSpPr/>
          <p:nvPr/>
        </p:nvSpPr>
        <p:spPr>
          <a:xfrm>
            <a:off x="360000" y="1584000"/>
            <a:ext cx="1853968" cy="19800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Calibri"/>
              </a:rPr>
              <a:t>Détails techniques</a:t>
            </a:r>
          </a:p>
        </p:txBody>
      </p:sp>
      <p:sp>
        <p:nvSpPr>
          <p:cNvPr id="5" name="TextBox 4"/>
          <p:cNvSpPr txBox="1"/>
          <p:nvPr/>
        </p:nvSpPr>
        <p:spPr>
          <a:xfrm>
            <a:off x="360000" y="1835999"/>
            <a:ext cx="5940000" cy="4932000"/>
          </a:xfrm>
          <a:prstGeom prst="rect">
            <a:avLst/>
          </a:prstGeom>
          <a:noFill/>
        </p:spPr>
        <p:txBody>
          <a:bodyPr wrap="square">
            <a:spAutoFit/>
          </a:bodyPr>
          <a:lstStyle/>
          <a:p>
            <a:pPr>
              <a:spcBef>
                <a:spcPts val="400"/>
              </a:spcBef>
              <a:spcAft>
                <a:spcPts val="200"/>
              </a:spcAft>
            </a:pPr>
            <a:r>
              <a:rPr sz="1300" b="1">
                <a:solidFill>
                  <a:srgbClr val="27AE60"/>
                </a:solidFill>
                <a:latin typeface="Calibri"/>
              </a:rPr>
              <a:t>✓  </a:t>
            </a:r>
            <a:r>
              <a:rPr sz="1300" b="1">
                <a:solidFill>
                  <a:srgbClr val="1A1A1A"/>
                </a:solidFill>
                <a:latin typeface="Calibri"/>
              </a:rPr>
              <a:t>Support de 6 gammes de produits dans un seul outil</a:t>
            </a:r>
            <a:r>
              <a:rPr sz="1300" b="0">
                <a:solidFill>
                  <a:srgbClr val="555555"/>
                </a:solidFill>
                <a:latin typeface="Calibri"/>
              </a:rPr>
              <a:t> — Aucun fichier séparé par gamme</a:t>
            </a:r>
          </a:p>
          <a:p>
            <a:pPr>
              <a:spcBef>
                <a:spcPts val="400"/>
              </a:spcBef>
              <a:spcAft>
                <a:spcPts val="200"/>
              </a:spcAft>
            </a:pPr>
            <a:r>
              <a:rPr sz="1300" b="1">
                <a:solidFill>
                  <a:srgbClr val="27AE60"/>
                </a:solidFill>
                <a:latin typeface="Calibri"/>
              </a:rPr>
              <a:t>✓  </a:t>
            </a:r>
            <a:r>
              <a:rPr sz="1300" b="1">
                <a:solidFill>
                  <a:srgbClr val="1A1A1A"/>
                </a:solidFill>
                <a:latin typeface="Calibri"/>
              </a:rPr>
              <a:t>Optimisation de coupe</a:t>
            </a:r>
            <a:r>
              <a:rPr sz="1300" b="0">
                <a:solidFill>
                  <a:srgbClr val="555555"/>
                </a:solidFill>
                <a:latin typeface="Calibri"/>
              </a:rPr>
              <a:t> — Minimise les pertes de matériel, réduit les coûts de production</a:t>
            </a:r>
          </a:p>
          <a:p>
            <a:pPr>
              <a:spcBef>
                <a:spcPts val="400"/>
              </a:spcBef>
              <a:spcAft>
                <a:spcPts val="200"/>
              </a:spcAft>
            </a:pPr>
            <a:r>
              <a:rPr sz="1300" b="1">
                <a:solidFill>
                  <a:srgbClr val="27AE60"/>
                </a:solidFill>
                <a:latin typeface="Calibri"/>
              </a:rPr>
              <a:t>✓  </a:t>
            </a:r>
            <a:r>
              <a:rPr sz="1300" b="1">
                <a:solidFill>
                  <a:srgbClr val="1A1A1A"/>
                </a:solidFill>
                <a:latin typeface="Calibri"/>
              </a:rPr>
              <a:t>Gestion dimension par dimension</a:t>
            </a:r>
            <a:r>
              <a:rPr sz="1300" b="0">
                <a:solidFill>
                  <a:srgbClr val="555555"/>
                </a:solidFill>
                <a:latin typeface="Calibri"/>
              </a:rPr>
              <a:t> — Idéal pour les projets à plusieurs sections ou configurations</a:t>
            </a:r>
          </a:p>
          <a:p>
            <a:pPr>
              <a:spcBef>
                <a:spcPts val="400"/>
              </a:spcBef>
              <a:spcAft>
                <a:spcPts val="200"/>
              </a:spcAft>
            </a:pPr>
            <a:r>
              <a:rPr sz="1300" b="1">
                <a:solidFill>
                  <a:srgbClr val="27AE60"/>
                </a:solidFill>
                <a:latin typeface="Calibri"/>
              </a:rPr>
              <a:t>✓  </a:t>
            </a:r>
            <a:r>
              <a:rPr sz="1300" b="1">
                <a:solidFill>
                  <a:srgbClr val="1A1A1A"/>
                </a:solidFill>
                <a:latin typeface="Calibri"/>
              </a:rPr>
              <a:t>Conversion automatique d'unités</a:t>
            </a:r>
            <a:r>
              <a:rPr sz="1300" b="0">
                <a:solidFill>
                  <a:srgbClr val="555555"/>
                </a:solidFill>
                <a:latin typeface="Calibri"/>
              </a:rPr>
              <a:t> — Élimine les erreurs de conversion manuelle pouces/millimètres</a:t>
            </a:r>
          </a:p>
          <a:p>
            <a:pPr>
              <a:spcBef>
                <a:spcPts val="400"/>
              </a:spcBef>
              <a:spcAft>
                <a:spcPts val="200"/>
              </a:spcAft>
            </a:pPr>
            <a:r>
              <a:rPr sz="1300" b="1">
                <a:solidFill>
                  <a:srgbClr val="27AE60"/>
                </a:solidFill>
                <a:latin typeface="Calibri"/>
              </a:rPr>
              <a:t>✓  </a:t>
            </a:r>
            <a:r>
              <a:rPr sz="1300" b="1">
                <a:solidFill>
                  <a:srgbClr val="1A1A1A"/>
                </a:solidFill>
                <a:latin typeface="Calibri"/>
              </a:rPr>
              <a:t>Décrément d'inventaire automatique</a:t>
            </a:r>
            <a:r>
              <a:rPr sz="1300" b="0">
                <a:solidFill>
                  <a:srgbClr val="555555"/>
                </a:solidFill>
                <a:latin typeface="Calibri"/>
              </a:rPr>
              <a:t> — Le stock est mis à jour à chaque document généré</a:t>
            </a:r>
          </a:p>
          <a:p>
            <a:pPr>
              <a:spcBef>
                <a:spcPts val="400"/>
              </a:spcBef>
              <a:spcAft>
                <a:spcPts val="200"/>
              </a:spcAft>
            </a:pPr>
            <a:r>
              <a:rPr sz="1300" b="1">
                <a:solidFill>
                  <a:srgbClr val="27AE60"/>
                </a:solidFill>
                <a:latin typeface="Calibri"/>
              </a:rPr>
              <a:t>✓  </a:t>
            </a:r>
            <a:r>
              <a:rPr sz="1300" b="1">
                <a:solidFill>
                  <a:srgbClr val="1A1A1A"/>
                </a:solidFill>
                <a:latin typeface="Calibri"/>
              </a:rPr>
              <a:t>Manuel de référence intégré</a:t>
            </a:r>
            <a:r>
              <a:rPr sz="1300" b="0">
                <a:solidFill>
                  <a:srgbClr val="555555"/>
                </a:solidFill>
                <a:latin typeface="Calibri"/>
              </a:rPr>
              <a:t> — Standardise la production peu importe qui est à l'atelier</a:t>
            </a:r>
          </a:p>
        </p:txBody>
      </p:sp>
      <p:sp>
        <p:nvSpPr>
          <p:cNvPr id="6" name="TextBox 5"/>
          <p:cNvSpPr txBox="1"/>
          <p:nvPr/>
        </p:nvSpPr>
        <p:spPr>
          <a:xfrm>
            <a:off x="10933200" y="7302800"/>
            <a:ext cx="1080000" cy="203200"/>
          </a:xfrm>
          <a:prstGeom prst="rect">
            <a:avLst/>
          </a:prstGeom>
          <a:noFill/>
        </p:spPr>
        <p:txBody>
          <a:bodyPr wrap="none">
            <a:spAutoFit/>
          </a:bodyPr>
          <a:lstStyle/>
          <a:p>
            <a:pPr algn="r"/>
            <a:r>
              <a:rPr sz="900">
                <a:solidFill>
                  <a:srgbClr val="AAAAAA"/>
                </a:solidFill>
                <a:latin typeface="Calibri"/>
              </a:rPr>
              <a:t>7 / 15</a:t>
            </a:r>
          </a:p>
        </p:txBody>
      </p:sp>
      <p:sp>
        <p:nvSpPr>
          <p:cNvPr id="7" name="TextBox 6"/>
          <p:cNvSpPr txBox="1"/>
          <p:nvPr/>
        </p:nvSpPr>
        <p:spPr>
          <a:xfrm>
            <a:off x="360000" y="871200"/>
            <a:ext cx="5940000" cy="684000"/>
          </a:xfrm>
          <a:prstGeom prst="rect">
            <a:avLst/>
          </a:prstGeom>
          <a:noFill/>
        </p:spPr>
        <p:txBody>
          <a:bodyPr wrap="square">
            <a:spAutoFit/>
          </a:bodyPr>
          <a:lstStyle/>
          <a:p>
            <a:pPr>
              <a:lnSpc>
                <a:spcPct val="140000"/>
              </a:lnSpc>
            </a:pPr>
            <a:r>
              <a:rPr sz="1000" i="1" b="0">
                <a:solidFill>
                  <a:srgbClr val="444444"/>
                </a:solidFill>
              </a:rPr>
              <a:t>La gestion technique de projets multi-gammes et multi-sections est souvent fragmentée entre plusieurs outils ou fichiers. Notre module centralise toute la complexité technique dans un seul endroit, avec une précision dimension par dimension et une cohérence garantie peu importe qui produit le document.</a:t>
            </a:r>
          </a:p>
        </p:txBody>
      </p:sp>
      <p:sp>
        <p:nvSpPr>
          <p:cNvPr id="8" name="Rectangle 7"/>
          <p:cNvSpPr/>
          <p:nvPr/>
        </p:nvSpPr>
        <p:spPr>
          <a:xfrm>
            <a:off x="6451200" y="1764000"/>
            <a:ext cx="5097600" cy="3207600"/>
          </a:xfrm>
          <a:prstGeom prst="rect">
            <a:avLst/>
          </a:prstGeom>
          <a:no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shot_prod_dims_v3.png"/>
          <p:cNvPicPr>
            <a:picLocks noChangeAspect="1"/>
          </p:cNvPicPr>
          <p:nvPr/>
        </p:nvPicPr>
        <p:blipFill>
          <a:blip r:embed="rId5"/>
          <a:stretch>
            <a:fillRect/>
          </a:stretch>
        </p:blipFill>
        <p:spPr>
          <a:xfrm>
            <a:off x="6480000" y="1764000"/>
            <a:ext cx="5040000" cy="3150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3200" cy="127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80000"/>
            <a:ext cx="11473200" cy="503999"/>
          </a:xfrm>
          <a:prstGeom prst="rect">
            <a:avLst/>
          </a:prstGeom>
          <a:noFill/>
        </p:spPr>
        <p:txBody>
          <a:bodyPr wrap="square">
            <a:spAutoFit/>
          </a:bodyPr>
          <a:lstStyle/>
          <a:p>
            <a:r>
              <a:rPr sz="2000" b="1">
                <a:solidFill>
                  <a:srgbClr val="1A1A1A"/>
                </a:solidFill>
                <a:latin typeface="Calibri"/>
              </a:rPr>
              <a:t>Dashboard — Tous les indicateurs en une page</a:t>
            </a:r>
          </a:p>
        </p:txBody>
      </p:sp>
      <p:sp>
        <p:nvSpPr>
          <p:cNvPr id="4" name="TextBox 3"/>
          <p:cNvSpPr txBox="1"/>
          <p:nvPr/>
        </p:nvSpPr>
        <p:spPr>
          <a:xfrm>
            <a:off x="360000" y="1476000"/>
            <a:ext cx="5940000" cy="2880000"/>
          </a:xfrm>
          <a:prstGeom prst="rect">
            <a:avLst/>
          </a:prstGeom>
          <a:noFill/>
        </p:spPr>
        <p:txBody>
          <a:bodyPr wrap="square">
            <a:spAutoFit/>
          </a:bodyPr>
          <a:lstStyle/>
          <a:p>
            <a:pPr>
              <a:spcBef>
                <a:spcPts val="400"/>
              </a:spcBef>
              <a:spcAft>
                <a:spcPts val="200"/>
              </a:spcAft>
            </a:pPr>
            <a:r>
              <a:rPr sz="1300" b="1">
                <a:solidFill>
                  <a:srgbClr val="27AE60"/>
                </a:solidFill>
                <a:latin typeface="Calibri"/>
              </a:rPr>
              <a:t>✓  </a:t>
            </a:r>
            <a:r>
              <a:rPr sz="1300" b="1">
                <a:solidFill>
                  <a:srgbClr val="1A1A1A"/>
                </a:solidFill>
                <a:latin typeface="Calibri"/>
              </a:rPr>
              <a:t>Vue centralisée de tous les indicateurs clés</a:t>
            </a:r>
            <a:r>
              <a:rPr sz="1300" b="0">
                <a:solidFill>
                  <a:srgbClr val="555555"/>
                </a:solidFill>
                <a:latin typeface="Calibri"/>
              </a:rPr>
              <a:t> — Volume, statuts, performance — tout en un coup d'œil</a:t>
            </a:r>
          </a:p>
          <a:p>
            <a:pPr>
              <a:spcBef>
                <a:spcPts val="400"/>
              </a:spcBef>
              <a:spcAft>
                <a:spcPts val="200"/>
              </a:spcAft>
            </a:pPr>
            <a:r>
              <a:rPr sz="1300" b="1">
                <a:solidFill>
                  <a:srgbClr val="27AE60"/>
                </a:solidFill>
                <a:latin typeface="Calibri"/>
              </a:rPr>
              <a:t>✓  </a:t>
            </a:r>
            <a:r>
              <a:rPr sz="1300" b="1">
                <a:solidFill>
                  <a:srgbClr val="1A1A1A"/>
                </a:solidFill>
                <a:latin typeface="Calibri"/>
              </a:rPr>
              <a:t>Suivi hebdomadaire et mensuel intégré</a:t>
            </a:r>
            <a:r>
              <a:rPr sz="1300" b="0">
                <a:solidFill>
                  <a:srgbClr val="555555"/>
                </a:solidFill>
                <a:latin typeface="Calibri"/>
              </a:rPr>
              <a:t> — Aucune compilation manuelle de rapport</a:t>
            </a:r>
          </a:p>
          <a:p>
            <a:pPr>
              <a:spcBef>
                <a:spcPts val="400"/>
              </a:spcBef>
              <a:spcAft>
                <a:spcPts val="200"/>
              </a:spcAft>
            </a:pPr>
            <a:r>
              <a:rPr sz="1300" b="1">
                <a:solidFill>
                  <a:srgbClr val="27AE60"/>
                </a:solidFill>
                <a:latin typeface="Calibri"/>
              </a:rPr>
              <a:t>✓  </a:t>
            </a:r>
            <a:r>
              <a:rPr sz="1300" b="1">
                <a:solidFill>
                  <a:srgbClr val="1A1A1A"/>
                </a:solidFill>
                <a:latin typeface="Calibri"/>
              </a:rPr>
              <a:t>Décisions plus rapides et mieux informées</a:t>
            </a:r>
            <a:r>
              <a:rPr sz="1300" b="0">
                <a:solidFill>
                  <a:srgbClr val="555555"/>
                </a:solidFill>
                <a:latin typeface="Calibri"/>
              </a:rPr>
              <a:t> — L'information est là quand vous en avez besoin</a:t>
            </a:r>
          </a:p>
        </p:txBody>
      </p:sp>
      <p:sp>
        <p:nvSpPr>
          <p:cNvPr id="5" name="Rectangle 4"/>
          <p:cNvSpPr/>
          <p:nvPr/>
        </p:nvSpPr>
        <p:spPr>
          <a:xfrm>
            <a:off x="360000" y="4716000"/>
            <a:ext cx="5940000" cy="1440000"/>
          </a:xfrm>
          <a:prstGeom prst="rect">
            <a:avLst/>
          </a:prstGeom>
          <a:solidFill>
            <a:srgbClr val="FFF0E8"/>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100" b="1">
                <a:solidFill>
                  <a:srgbClr val="FF6B35"/>
                </a:solidFill>
                <a:latin typeface="Calibri"/>
              </a:rPr>
              <a:t>Note</a:t>
            </a:r>
          </a:p>
          <a:p>
            <a:pPr>
              <a:spcBef>
                <a:spcPts val="400"/>
              </a:spcBef>
            </a:pPr>
            <a:r>
              <a:rPr sz="1100">
                <a:solidFill>
                  <a:srgbClr val="1A1A1A"/>
                </a:solidFill>
                <a:latin typeface="Calibri"/>
              </a:rPr>
              <a:t>Un tableau de bord centralisé remplace des heures de compilation hebdomadaire. L'équipe de direction accède à l'état réel de l'entreprise en temps réel, pas en fin de mois.</a:t>
            </a:r>
          </a:p>
        </p:txBody>
      </p:sp>
      <p:sp>
        <p:nvSpPr>
          <p:cNvPr id="6" name="TextBox 5"/>
          <p:cNvSpPr txBox="1"/>
          <p:nvPr/>
        </p:nvSpPr>
        <p:spPr>
          <a:xfrm>
            <a:off x="10933200" y="7302800"/>
            <a:ext cx="1080000" cy="203200"/>
          </a:xfrm>
          <a:prstGeom prst="rect">
            <a:avLst/>
          </a:prstGeom>
          <a:noFill/>
        </p:spPr>
        <p:txBody>
          <a:bodyPr wrap="none">
            <a:spAutoFit/>
          </a:bodyPr>
          <a:lstStyle/>
          <a:p>
            <a:pPr algn="r"/>
            <a:r>
              <a:rPr sz="900">
                <a:solidFill>
                  <a:srgbClr val="AAAAAA"/>
                </a:solidFill>
                <a:latin typeface="Calibri"/>
              </a:rPr>
              <a:t>8 / 15</a:t>
            </a:r>
          </a:p>
        </p:txBody>
      </p:sp>
      <p:sp>
        <p:nvSpPr>
          <p:cNvPr id="7" name="TextBox 6"/>
          <p:cNvSpPr txBox="1"/>
          <p:nvPr/>
        </p:nvSpPr>
        <p:spPr>
          <a:xfrm>
            <a:off x="360000" y="691200"/>
            <a:ext cx="5940000" cy="684000"/>
          </a:xfrm>
          <a:prstGeom prst="rect">
            <a:avLst/>
          </a:prstGeom>
          <a:noFill/>
        </p:spPr>
        <p:txBody>
          <a:bodyPr wrap="square">
            <a:spAutoFit/>
          </a:bodyPr>
          <a:lstStyle/>
          <a:p>
            <a:pPr>
              <a:lnSpc>
                <a:spcPct val="140000"/>
              </a:lnSpc>
            </a:pPr>
            <a:r>
              <a:rPr sz="1000" i="1" b="0">
                <a:solidFill>
                  <a:srgbClr val="444444"/>
                </a:solidFill>
              </a:rPr>
              <a:t>Sans tableau de bord centralisé, les dirigeants compilent des rapports manuels en fin de semaine — une heure de travail pour avoir une image déjà désuète de leur entreprise. Notre Dashboard affiche l'état réel en temps réel, sans aucune compilation.</a:t>
            </a:r>
          </a:p>
        </p:txBody>
      </p:sp>
      <p:sp>
        <p:nvSpPr>
          <p:cNvPr id="8" name="Rectangle 7"/>
          <p:cNvSpPr/>
          <p:nvPr/>
        </p:nvSpPr>
        <p:spPr>
          <a:xfrm>
            <a:off x="6451200" y="1591200"/>
            <a:ext cx="5097600" cy="3207600"/>
          </a:xfrm>
          <a:prstGeom prst="rect">
            <a:avLst/>
          </a:prstGeom>
          <a:no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ashboard.png"/>
          <p:cNvPicPr>
            <a:picLocks noChangeAspect="1"/>
          </p:cNvPicPr>
          <p:nvPr/>
        </p:nvPicPr>
        <p:blipFill>
          <a:blip r:embed="rId2"/>
          <a:stretch>
            <a:fillRect/>
          </a:stretch>
        </p:blipFill>
        <p:spPr>
          <a:xfrm>
            <a:off x="6480000" y="1620000"/>
            <a:ext cx="5040000" cy="3150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3200" cy="127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80000"/>
            <a:ext cx="11473200" cy="503999"/>
          </a:xfrm>
          <a:prstGeom prst="rect">
            <a:avLst/>
          </a:prstGeom>
          <a:noFill/>
        </p:spPr>
        <p:txBody>
          <a:bodyPr wrap="square">
            <a:spAutoFit/>
          </a:bodyPr>
          <a:lstStyle/>
          <a:p>
            <a:r>
              <a:rPr sz="2000" b="1">
                <a:solidFill>
                  <a:srgbClr val="1A1A1A"/>
                </a:solidFill>
                <a:latin typeface="Calibri"/>
              </a:rPr>
              <a:t>Feuille de temps — Saisie numérique, paie sans friction</a:t>
            </a:r>
          </a:p>
        </p:txBody>
      </p:sp>
      <p:sp>
        <p:nvSpPr>
          <p:cNvPr id="4" name="TextBox 3"/>
          <p:cNvSpPr txBox="1"/>
          <p:nvPr/>
        </p:nvSpPr>
        <p:spPr>
          <a:xfrm>
            <a:off x="360000" y="1476000"/>
            <a:ext cx="5940000" cy="2880000"/>
          </a:xfrm>
          <a:prstGeom prst="rect">
            <a:avLst/>
          </a:prstGeom>
          <a:noFill/>
        </p:spPr>
        <p:txBody>
          <a:bodyPr wrap="square">
            <a:spAutoFit/>
          </a:bodyPr>
          <a:lstStyle/>
          <a:p>
            <a:pPr>
              <a:spcBef>
                <a:spcPts val="400"/>
              </a:spcBef>
              <a:spcAft>
                <a:spcPts val="200"/>
              </a:spcAft>
            </a:pPr>
            <a:r>
              <a:rPr sz="1300" b="1">
                <a:solidFill>
                  <a:srgbClr val="27AE60"/>
                </a:solidFill>
                <a:latin typeface="Calibri"/>
              </a:rPr>
              <a:t>✓  </a:t>
            </a:r>
            <a:r>
              <a:rPr sz="1300" b="1">
                <a:solidFill>
                  <a:srgbClr val="1A1A1A"/>
                </a:solidFill>
                <a:latin typeface="Calibri"/>
              </a:rPr>
              <a:t>Saisie d'heures numérique par employé</a:t>
            </a:r>
            <a:r>
              <a:rPr sz="1300" b="0">
                <a:solidFill>
                  <a:srgbClr val="555555"/>
                </a:solidFill>
                <a:latin typeface="Calibri"/>
              </a:rPr>
              <a:t> — Code PIN sécurisé, accessible depuis n'importe quel appareil</a:t>
            </a:r>
          </a:p>
          <a:p>
            <a:pPr>
              <a:spcBef>
                <a:spcPts val="400"/>
              </a:spcBef>
              <a:spcAft>
                <a:spcPts val="200"/>
              </a:spcAft>
            </a:pPr>
            <a:r>
              <a:rPr sz="1300" b="1">
                <a:solidFill>
                  <a:srgbClr val="27AE60"/>
                </a:solidFill>
                <a:latin typeface="Calibri"/>
              </a:rPr>
              <a:t>✓  </a:t>
            </a:r>
            <a:r>
              <a:rPr sz="1300" b="1">
                <a:solidFill>
                  <a:srgbClr val="1A1A1A"/>
                </a:solidFill>
                <a:latin typeface="Calibri"/>
              </a:rPr>
              <a:t>Calcul automatique des totaux et des heures supplémentaires</a:t>
            </a:r>
            <a:r>
              <a:rPr sz="1300" b="0">
                <a:solidFill>
                  <a:srgbClr val="555555"/>
                </a:solidFill>
                <a:latin typeface="Calibri"/>
              </a:rPr>
              <a:t> — Plus d'erreurs de calcul en fin de semaine</a:t>
            </a:r>
          </a:p>
          <a:p>
            <a:pPr>
              <a:spcBef>
                <a:spcPts val="400"/>
              </a:spcBef>
              <a:spcAft>
                <a:spcPts val="200"/>
              </a:spcAft>
            </a:pPr>
            <a:r>
              <a:rPr sz="1300" b="1">
                <a:solidFill>
                  <a:srgbClr val="27AE60"/>
                </a:solidFill>
                <a:latin typeface="Calibri"/>
              </a:rPr>
              <a:t>✓  </a:t>
            </a:r>
            <a:r>
              <a:rPr sz="1300" b="1">
                <a:solidFill>
                  <a:srgbClr val="1A1A1A"/>
                </a:solidFill>
                <a:latin typeface="Calibri"/>
              </a:rPr>
              <a:t>Export PDF prêt pour la paie</a:t>
            </a:r>
            <a:r>
              <a:rPr sz="1300" b="0">
                <a:solidFill>
                  <a:srgbClr val="555555"/>
                </a:solidFill>
                <a:latin typeface="Calibri"/>
              </a:rPr>
              <a:t> — Un clic, le document est généré et archivé</a:t>
            </a:r>
          </a:p>
        </p:txBody>
      </p:sp>
      <p:sp>
        <p:nvSpPr>
          <p:cNvPr id="5" name="Rectangle 4"/>
          <p:cNvSpPr/>
          <p:nvPr/>
        </p:nvSpPr>
        <p:spPr>
          <a:xfrm>
            <a:off x="360000" y="4716000"/>
            <a:ext cx="5940000" cy="1620000"/>
          </a:xfrm>
          <a:prstGeom prst="rect">
            <a:avLst/>
          </a:prstGeom>
          <a:solidFill>
            <a:srgbClr val="FFF0E8"/>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100" b="1">
                <a:solidFill>
                  <a:srgbClr val="FF6B35"/>
                </a:solidFill>
                <a:latin typeface="Calibri"/>
              </a:rPr>
              <a:t>Impact mesuré</a:t>
            </a:r>
          </a:p>
          <a:p>
            <a:pPr>
              <a:spcBef>
                <a:spcPts val="400"/>
              </a:spcBef>
            </a:pPr>
            <a:r>
              <a:rPr sz="1100">
                <a:solidFill>
                  <a:srgbClr val="1A1A1A"/>
                </a:solidFill>
                <a:latin typeface="Calibri"/>
              </a:rPr>
              <a:t>Le traitement de la paie peut être réduit d'environ 75% en passant du papier au numérique. Les erreurs de saisie manuelle affectent typiquement 1 à 8% des coûts de paie totaux — éliminées avec la saisie numérique.</a:t>
            </a:r>
          </a:p>
        </p:txBody>
      </p:sp>
      <p:sp>
        <p:nvSpPr>
          <p:cNvPr id="6" name="TextBox 5"/>
          <p:cNvSpPr txBox="1"/>
          <p:nvPr/>
        </p:nvSpPr>
        <p:spPr>
          <a:xfrm>
            <a:off x="180000" y="7302800"/>
            <a:ext cx="6480000" cy="203200"/>
          </a:xfrm>
          <a:prstGeom prst="rect">
            <a:avLst/>
          </a:prstGeom>
          <a:noFill/>
        </p:spPr>
        <p:txBody>
          <a:bodyPr wrap="none">
            <a:spAutoFit/>
          </a:bodyPr>
          <a:lstStyle/>
          <a:p>
            <a:r>
              <a:rPr sz="900" i="1">
                <a:solidFill>
                  <a:srgbClr val="999999"/>
                </a:solidFill>
                <a:latin typeface="Calibri"/>
              </a:rPr>
              <a:t>Sources : LaborSync, 2025 — Harvest/ActivTrak</a:t>
            </a:r>
          </a:p>
        </p:txBody>
      </p:sp>
      <p:sp>
        <p:nvSpPr>
          <p:cNvPr id="7" name="TextBox 6"/>
          <p:cNvSpPr txBox="1"/>
          <p:nvPr/>
        </p:nvSpPr>
        <p:spPr>
          <a:xfrm>
            <a:off x="10933200" y="7302800"/>
            <a:ext cx="1080000" cy="203200"/>
          </a:xfrm>
          <a:prstGeom prst="rect">
            <a:avLst/>
          </a:prstGeom>
          <a:noFill/>
        </p:spPr>
        <p:txBody>
          <a:bodyPr wrap="none">
            <a:spAutoFit/>
          </a:bodyPr>
          <a:lstStyle/>
          <a:p>
            <a:pPr algn="r"/>
            <a:r>
              <a:rPr sz="900">
                <a:solidFill>
                  <a:srgbClr val="AAAAAA"/>
                </a:solidFill>
                <a:latin typeface="Calibri"/>
              </a:rPr>
              <a:t>9 / 15</a:t>
            </a:r>
          </a:p>
        </p:txBody>
      </p:sp>
      <p:sp>
        <p:nvSpPr>
          <p:cNvPr id="8" name="TextBox 7"/>
          <p:cNvSpPr txBox="1"/>
          <p:nvPr/>
        </p:nvSpPr>
        <p:spPr>
          <a:xfrm>
            <a:off x="360000" y="691200"/>
            <a:ext cx="5940000" cy="684000"/>
          </a:xfrm>
          <a:prstGeom prst="rect">
            <a:avLst/>
          </a:prstGeom>
          <a:noFill/>
        </p:spPr>
        <p:txBody>
          <a:bodyPr wrap="square">
            <a:spAutoFit/>
          </a:bodyPr>
          <a:lstStyle/>
          <a:p>
            <a:pPr>
              <a:lnSpc>
                <a:spcPct val="140000"/>
              </a:lnSpc>
            </a:pPr>
            <a:r>
              <a:rPr sz="1000" i="1" b="0">
                <a:solidFill>
                  <a:srgbClr val="444444"/>
                </a:solidFill>
              </a:rPr>
              <a:t>Les feuilles de temps papier sont une source constante d'erreurs, de pertes et de délais à la paie — les totaux sont recalculés à la main, les corrections se font à la gomme. Notre module numérique élimine ces frictions du premier au dernier pas du processus.</a:t>
            </a:r>
          </a:p>
        </p:txBody>
      </p:sp>
      <p:sp>
        <p:nvSpPr>
          <p:cNvPr id="9" name="Rectangle 8"/>
          <p:cNvSpPr/>
          <p:nvPr/>
        </p:nvSpPr>
        <p:spPr>
          <a:xfrm>
            <a:off x="6451200" y="1591200"/>
            <a:ext cx="5097600" cy="3207600"/>
          </a:xfrm>
          <a:prstGeom prst="rect">
            <a:avLst/>
          </a:prstGeom>
          <a:no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euille_temps.png"/>
          <p:cNvPicPr>
            <a:picLocks noChangeAspect="1"/>
          </p:cNvPicPr>
          <p:nvPr/>
        </p:nvPicPr>
        <p:blipFill>
          <a:blip r:embed="rId2"/>
          <a:stretch>
            <a:fillRect/>
          </a:stretch>
        </p:blipFill>
        <p:spPr>
          <a:xfrm>
            <a:off x="6480000" y="1620000"/>
            <a:ext cx="5040000" cy="3150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3200" cy="127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80000"/>
            <a:ext cx="11473200" cy="503999"/>
          </a:xfrm>
          <a:prstGeom prst="rect">
            <a:avLst/>
          </a:prstGeom>
          <a:noFill/>
        </p:spPr>
        <p:txBody>
          <a:bodyPr wrap="square">
            <a:spAutoFit/>
          </a:bodyPr>
          <a:lstStyle/>
          <a:p>
            <a:r>
              <a:rPr sz="2000" b="1">
                <a:solidFill>
                  <a:srgbClr val="1A1A1A"/>
                </a:solidFill>
                <a:latin typeface="Calibri"/>
              </a:rPr>
              <a:t>Suivi production — Visibilité complète entre les équipes</a:t>
            </a:r>
          </a:p>
        </p:txBody>
      </p:sp>
      <p:sp>
        <p:nvSpPr>
          <p:cNvPr id="4" name="TextBox 3"/>
          <p:cNvSpPr txBox="1"/>
          <p:nvPr/>
        </p:nvSpPr>
        <p:spPr>
          <a:xfrm>
            <a:off x="360000" y="1476000"/>
            <a:ext cx="5940000" cy="2880000"/>
          </a:xfrm>
          <a:prstGeom prst="rect">
            <a:avLst/>
          </a:prstGeom>
          <a:noFill/>
        </p:spPr>
        <p:txBody>
          <a:bodyPr wrap="square">
            <a:spAutoFit/>
          </a:bodyPr>
          <a:lstStyle/>
          <a:p>
            <a:pPr>
              <a:spcBef>
                <a:spcPts val="400"/>
              </a:spcBef>
              <a:spcAft>
                <a:spcPts val="200"/>
              </a:spcAft>
            </a:pPr>
            <a:r>
              <a:rPr sz="1300" b="1">
                <a:solidFill>
                  <a:srgbClr val="27AE60"/>
                </a:solidFill>
                <a:latin typeface="Calibri"/>
              </a:rPr>
              <a:t>✓  </a:t>
            </a:r>
            <a:r>
              <a:rPr sz="1300" b="1">
                <a:solidFill>
                  <a:srgbClr val="1A1A1A"/>
                </a:solidFill>
                <a:latin typeface="Calibri"/>
              </a:rPr>
              <a:t>Suivi en temps réel des dossiers en fabrication et installation</a:t>
            </a:r>
            <a:r>
              <a:rPr sz="1300" b="0">
                <a:solidFill>
                  <a:srgbClr val="555555"/>
                </a:solidFill>
                <a:latin typeface="Calibri"/>
              </a:rPr>
              <a:t> — Chaque étape visible sans avoir à appeler</a:t>
            </a:r>
          </a:p>
          <a:p>
            <a:pPr>
              <a:spcBef>
                <a:spcPts val="400"/>
              </a:spcBef>
              <a:spcAft>
                <a:spcPts val="200"/>
              </a:spcAft>
            </a:pPr>
            <a:r>
              <a:rPr sz="1300" b="1">
                <a:solidFill>
                  <a:srgbClr val="27AE60"/>
                </a:solidFill>
                <a:latin typeface="Calibri"/>
              </a:rPr>
              <a:t>✓  </a:t>
            </a:r>
            <a:r>
              <a:rPr sz="1300" b="1">
                <a:solidFill>
                  <a:srgbClr val="1A1A1A"/>
                </a:solidFill>
                <a:latin typeface="Calibri"/>
              </a:rPr>
              <a:t>Visibilité partagée sans communication verbale</a:t>
            </a:r>
            <a:r>
              <a:rPr sz="1300" b="0">
                <a:solidFill>
                  <a:srgbClr val="555555"/>
                </a:solidFill>
                <a:latin typeface="Calibri"/>
              </a:rPr>
              <a:t> — Les équipes voient le même état du dossier simultanément</a:t>
            </a:r>
          </a:p>
          <a:p>
            <a:pPr>
              <a:spcBef>
                <a:spcPts val="400"/>
              </a:spcBef>
              <a:spcAft>
                <a:spcPts val="200"/>
              </a:spcAft>
            </a:pPr>
            <a:r>
              <a:rPr sz="1300" b="1">
                <a:solidFill>
                  <a:srgbClr val="27AE60"/>
                </a:solidFill>
                <a:latin typeface="Calibri"/>
              </a:rPr>
              <a:t>✓  </a:t>
            </a:r>
            <a:r>
              <a:rPr sz="1300" b="1">
                <a:solidFill>
                  <a:srgbClr val="1A1A1A"/>
                </a:solidFill>
                <a:latin typeface="Calibri"/>
              </a:rPr>
              <a:t>Historique complet par dossier</a:t>
            </a:r>
            <a:r>
              <a:rPr sz="1300" b="0">
                <a:solidFill>
                  <a:srgbClr val="555555"/>
                </a:solidFill>
                <a:latin typeface="Calibri"/>
              </a:rPr>
              <a:t> — Chaque action tracée, chaque transition documentée</a:t>
            </a:r>
          </a:p>
        </p:txBody>
      </p:sp>
      <p:sp>
        <p:nvSpPr>
          <p:cNvPr id="5" name="Rectangle 4"/>
          <p:cNvSpPr/>
          <p:nvPr/>
        </p:nvSpPr>
        <p:spPr>
          <a:xfrm>
            <a:off x="360000" y="4716000"/>
            <a:ext cx="5940000" cy="1260000"/>
          </a:xfrm>
          <a:prstGeom prst="rect">
            <a:avLst/>
          </a:prstGeom>
          <a:solidFill>
            <a:srgbClr val="FFF0E8"/>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100" b="1">
                <a:solidFill>
                  <a:srgbClr val="FF6B35"/>
                </a:solidFill>
                <a:latin typeface="Calibri"/>
              </a:rPr>
              <a:t>Note</a:t>
            </a:r>
          </a:p>
          <a:p>
            <a:pPr>
              <a:spcBef>
                <a:spcPts val="400"/>
              </a:spcBef>
            </a:pPr>
            <a:r>
              <a:rPr sz="1100">
                <a:solidFill>
                  <a:srgbClr val="1A1A1A"/>
                </a:solidFill>
                <a:latin typeface="Calibri"/>
              </a:rPr>
              <a:t>Moins de délais et d'oublis entre les étapes. Quand tout le monde voit le même tableau de bord, les erreurs de communication disparaissent.</a:t>
            </a:r>
          </a:p>
        </p:txBody>
      </p:sp>
      <p:sp>
        <p:nvSpPr>
          <p:cNvPr id="6" name="TextBox 5"/>
          <p:cNvSpPr txBox="1"/>
          <p:nvPr/>
        </p:nvSpPr>
        <p:spPr>
          <a:xfrm>
            <a:off x="10933200" y="7302800"/>
            <a:ext cx="1080000" cy="203200"/>
          </a:xfrm>
          <a:prstGeom prst="rect">
            <a:avLst/>
          </a:prstGeom>
          <a:noFill/>
        </p:spPr>
        <p:txBody>
          <a:bodyPr wrap="none">
            <a:spAutoFit/>
          </a:bodyPr>
          <a:lstStyle/>
          <a:p>
            <a:pPr algn="r"/>
            <a:r>
              <a:rPr sz="900">
                <a:solidFill>
                  <a:srgbClr val="AAAAAA"/>
                </a:solidFill>
                <a:latin typeface="Calibri"/>
              </a:rPr>
              <a:t>10 / 15</a:t>
            </a:r>
          </a:p>
        </p:txBody>
      </p:sp>
      <p:sp>
        <p:nvSpPr>
          <p:cNvPr id="7" name="TextBox 6"/>
          <p:cNvSpPr txBox="1"/>
          <p:nvPr/>
        </p:nvSpPr>
        <p:spPr>
          <a:xfrm>
            <a:off x="360000" y="691200"/>
            <a:ext cx="5940000" cy="684000"/>
          </a:xfrm>
          <a:prstGeom prst="rect">
            <a:avLst/>
          </a:prstGeom>
          <a:noFill/>
        </p:spPr>
        <p:txBody>
          <a:bodyPr wrap="square">
            <a:spAutoFit/>
          </a:bodyPr>
          <a:lstStyle/>
          <a:p>
            <a:pPr>
              <a:lnSpc>
                <a:spcPct val="140000"/>
              </a:lnSpc>
            </a:pPr>
            <a:r>
              <a:rPr sz="1000" i="1" b="0">
                <a:solidFill>
                  <a:srgbClr val="444444"/>
                </a:solidFill>
              </a:rPr>
              <a:t>Quand la fabrication et l'installation sont gérées par des équipes différentes, les informations passent par téléphone, texto ou réunion — et quelque chose finit toujours par tomber entre les chaises. Notre Suivi production donne à chaque équipe une vue partagée en temps réel.</a:t>
            </a:r>
          </a:p>
        </p:txBody>
      </p:sp>
      <p:sp>
        <p:nvSpPr>
          <p:cNvPr id="8" name="Rectangle 7"/>
          <p:cNvSpPr/>
          <p:nvPr/>
        </p:nvSpPr>
        <p:spPr>
          <a:xfrm>
            <a:off x="6451200" y="1591200"/>
            <a:ext cx="5097600" cy="3207600"/>
          </a:xfrm>
          <a:prstGeom prst="rect">
            <a:avLst/>
          </a:prstGeom>
          <a:no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uivi_production.png"/>
          <p:cNvPicPr>
            <a:picLocks noChangeAspect="1"/>
          </p:cNvPicPr>
          <p:nvPr/>
        </p:nvPicPr>
        <p:blipFill>
          <a:blip r:embed="rId2"/>
          <a:stretch>
            <a:fillRect/>
          </a:stretch>
        </p:blipFill>
        <p:spPr>
          <a:xfrm>
            <a:off x="6480000" y="1620000"/>
            <a:ext cx="5040000" cy="3150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3200" cy="127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80000"/>
            <a:ext cx="11473200" cy="503999"/>
          </a:xfrm>
          <a:prstGeom prst="rect">
            <a:avLst/>
          </a:prstGeom>
          <a:noFill/>
        </p:spPr>
        <p:txBody>
          <a:bodyPr wrap="square">
            <a:spAutoFit/>
          </a:bodyPr>
          <a:lstStyle/>
          <a:p>
            <a:r>
              <a:rPr sz="2000" b="1">
                <a:solidFill>
                  <a:srgbClr val="1A1A1A"/>
                </a:solidFill>
                <a:latin typeface="Calibri"/>
              </a:rPr>
              <a:t>Suivi usine — Interface dédiée à l'atelier</a:t>
            </a:r>
          </a:p>
        </p:txBody>
      </p:sp>
      <p:sp>
        <p:nvSpPr>
          <p:cNvPr id="4" name="TextBox 3"/>
          <p:cNvSpPr txBox="1"/>
          <p:nvPr/>
        </p:nvSpPr>
        <p:spPr>
          <a:xfrm>
            <a:off x="360000" y="1476000"/>
            <a:ext cx="5400000" cy="2880000"/>
          </a:xfrm>
          <a:prstGeom prst="rect">
            <a:avLst/>
          </a:prstGeom>
          <a:noFill/>
        </p:spPr>
        <p:txBody>
          <a:bodyPr wrap="square">
            <a:spAutoFit/>
          </a:bodyPr>
          <a:lstStyle/>
          <a:p>
            <a:pPr>
              <a:spcBef>
                <a:spcPts val="400"/>
              </a:spcBef>
              <a:spcAft>
                <a:spcPts val="200"/>
              </a:spcAft>
            </a:pPr>
            <a:r>
              <a:rPr sz="1300" b="1">
                <a:solidFill>
                  <a:srgbClr val="27AE60"/>
                </a:solidFill>
                <a:latin typeface="Calibri"/>
              </a:rPr>
              <a:t>✓  </a:t>
            </a:r>
            <a:r>
              <a:rPr sz="1300" b="1">
                <a:solidFill>
                  <a:srgbClr val="1A1A1A"/>
                </a:solidFill>
                <a:latin typeface="Calibri"/>
              </a:rPr>
              <a:t>Interface conçue pour les employés d'atelier</a:t>
            </a:r>
            <a:r>
              <a:rPr sz="1300" b="0">
                <a:solidFill>
                  <a:srgbClr val="555555"/>
                </a:solidFill>
                <a:latin typeface="Calibri"/>
              </a:rPr>
              <a:t> — Simple, rapide, sans formation longue</a:t>
            </a:r>
          </a:p>
          <a:p>
            <a:pPr>
              <a:spcBef>
                <a:spcPts val="400"/>
              </a:spcBef>
              <a:spcAft>
                <a:spcPts val="200"/>
              </a:spcAft>
            </a:pPr>
            <a:r>
              <a:rPr sz="1300" b="1">
                <a:solidFill>
                  <a:srgbClr val="27AE60"/>
                </a:solidFill>
                <a:latin typeface="Calibri"/>
              </a:rPr>
              <a:t>✓  </a:t>
            </a:r>
            <a:r>
              <a:rPr sz="1300" b="1">
                <a:solidFill>
                  <a:srgbClr val="1A1A1A"/>
                </a:solidFill>
                <a:latin typeface="Calibri"/>
              </a:rPr>
              <a:t>Suivi de la progression sans paperasse</a:t>
            </a:r>
            <a:r>
              <a:rPr sz="1300" b="0">
                <a:solidFill>
                  <a:srgbClr val="555555"/>
                </a:solidFill>
                <a:latin typeface="Calibri"/>
              </a:rPr>
              <a:t> — L'employé met à jour son statut depuis l'atelier, l'équipe voit le résultat</a:t>
            </a:r>
          </a:p>
          <a:p>
            <a:pPr>
              <a:spcBef>
                <a:spcPts val="400"/>
              </a:spcBef>
              <a:spcAft>
                <a:spcPts val="200"/>
              </a:spcAft>
            </a:pPr>
            <a:r>
              <a:rPr sz="1300" b="1">
                <a:solidFill>
                  <a:srgbClr val="27AE60"/>
                </a:solidFill>
                <a:latin typeface="Calibri"/>
              </a:rPr>
              <a:t>✓  </a:t>
            </a:r>
            <a:r>
              <a:rPr sz="1300" b="1">
                <a:solidFill>
                  <a:srgbClr val="1A1A1A"/>
                </a:solidFill>
                <a:latin typeface="Calibri"/>
              </a:rPr>
              <a:t>Traçabilité complète</a:t>
            </a:r>
            <a:r>
              <a:rPr sz="1300" b="0">
                <a:solidFill>
                  <a:srgbClr val="555555"/>
                </a:solidFill>
                <a:latin typeface="Calibri"/>
              </a:rPr>
              <a:t> — Qui a fait quoi et quand, sans chercher dans des notes papier</a:t>
            </a:r>
          </a:p>
        </p:txBody>
      </p:sp>
      <p:sp>
        <p:nvSpPr>
          <p:cNvPr id="5" name="Rectangle 4"/>
          <p:cNvSpPr/>
          <p:nvPr/>
        </p:nvSpPr>
        <p:spPr>
          <a:xfrm>
            <a:off x="360000" y="4716000"/>
            <a:ext cx="11473200" cy="1260000"/>
          </a:xfrm>
          <a:prstGeom prst="rect">
            <a:avLst/>
          </a:prstGeom>
          <a:solidFill>
            <a:srgbClr val="FFF0E8"/>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100" b="1">
                <a:solidFill>
                  <a:srgbClr val="FF6B35"/>
                </a:solidFill>
                <a:latin typeface="Calibri"/>
              </a:rPr>
              <a:t>Note</a:t>
            </a:r>
          </a:p>
          <a:p>
            <a:pPr>
              <a:spcBef>
                <a:spcPts val="400"/>
              </a:spcBef>
            </a:pPr>
            <a:r>
              <a:rPr sz="1100">
                <a:solidFill>
                  <a:srgbClr val="1A1A1A"/>
                </a:solidFill>
                <a:latin typeface="Calibri"/>
              </a:rPr>
              <a:t>Réduit les erreurs de communication en atelier. Moins de 'je pensais que tu l'avais fait' — l'état du dossier est visible par tous, en tout temps.</a:t>
            </a:r>
          </a:p>
        </p:txBody>
      </p:sp>
      <p:sp>
        <p:nvSpPr>
          <p:cNvPr id="6" name="TextBox 5"/>
          <p:cNvSpPr txBox="1"/>
          <p:nvPr/>
        </p:nvSpPr>
        <p:spPr>
          <a:xfrm>
            <a:off x="10933200" y="7302800"/>
            <a:ext cx="1080000" cy="203200"/>
          </a:xfrm>
          <a:prstGeom prst="rect">
            <a:avLst/>
          </a:prstGeom>
          <a:noFill/>
        </p:spPr>
        <p:txBody>
          <a:bodyPr wrap="none">
            <a:spAutoFit/>
          </a:bodyPr>
          <a:lstStyle/>
          <a:p>
            <a:pPr algn="r"/>
            <a:r>
              <a:rPr sz="900">
                <a:solidFill>
                  <a:srgbClr val="AAAAAA"/>
                </a:solidFill>
                <a:latin typeface="Calibri"/>
              </a:rPr>
              <a:t>11 / 15</a:t>
            </a:r>
          </a:p>
        </p:txBody>
      </p:sp>
      <p:sp>
        <p:nvSpPr>
          <p:cNvPr id="7" name="TextBox 6"/>
          <p:cNvSpPr txBox="1"/>
          <p:nvPr/>
        </p:nvSpPr>
        <p:spPr>
          <a:xfrm>
            <a:off x="360000" y="691200"/>
            <a:ext cx="11473200" cy="684000"/>
          </a:xfrm>
          <a:prstGeom prst="rect">
            <a:avLst/>
          </a:prstGeom>
          <a:noFill/>
        </p:spPr>
        <p:txBody>
          <a:bodyPr wrap="square">
            <a:spAutoFit/>
          </a:bodyPr>
          <a:lstStyle/>
          <a:p>
            <a:pPr>
              <a:lnSpc>
                <a:spcPct val="140000"/>
              </a:lnSpc>
            </a:pPr>
            <a:r>
              <a:rPr sz="1000" i="1" b="0">
                <a:solidFill>
                  <a:srgbClr val="444444"/>
                </a:solidFill>
              </a:rPr>
              <a:t>Les employés d'atelier n'ont pas besoin d'un outil complexe — ils ont besoin de savoir quoi faire, dans quel ordre, et de pouvoir signaler leur avancement sans paperasse. Notre interface Suivi usine est conçue exactement pour ça.</a:t>
            </a:r>
          </a:p>
        </p:txBody>
      </p:sp>
      <p:pic>
        <p:nvPicPr>
          <p:cNvPr id="8" name="Picture 7" descr="screenshot_keven.png"/>
          <p:cNvPicPr>
            <a:picLocks noChangeAspect="1"/>
          </p:cNvPicPr>
          <p:nvPr/>
        </p:nvPicPr>
        <p:blipFill>
          <a:blip r:embed="rId2"/>
          <a:stretch>
            <a:fillRect/>
          </a:stretch>
        </p:blipFill>
        <p:spPr>
          <a:xfrm>
            <a:off x="6300000" y="1620000"/>
            <a:ext cx="4680000" cy="2925000"/>
          </a:xfrm>
          <a:prstGeom prst="rect">
            <a:avLst/>
          </a:prstGeom>
        </p:spPr>
      </p:pic>
      <p:sp>
        <p:nvSpPr>
          <p:cNvPr id="9" name="Rectangle 8"/>
          <p:cNvSpPr/>
          <p:nvPr/>
        </p:nvSpPr>
        <p:spPr>
          <a:xfrm>
            <a:off x="6300000" y="1620000"/>
            <a:ext cx="4680000" cy="2925000"/>
          </a:xfrm>
          <a:prstGeom prst="rect">
            <a:avLst/>
          </a:prstGeom>
          <a:no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3200" cy="127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80000"/>
            <a:ext cx="11473200" cy="503999"/>
          </a:xfrm>
          <a:prstGeom prst="rect">
            <a:avLst/>
          </a:prstGeom>
          <a:noFill/>
        </p:spPr>
        <p:txBody>
          <a:bodyPr wrap="square">
            <a:spAutoFit/>
          </a:bodyPr>
          <a:lstStyle/>
          <a:p>
            <a:r>
              <a:rPr sz="2000" b="1">
                <a:solidFill>
                  <a:srgbClr val="1A1A1A"/>
                </a:solidFill>
                <a:latin typeface="Calibri"/>
              </a:rPr>
              <a:t>Prospection — Pipeline de ventes automatisé</a:t>
            </a:r>
          </a:p>
        </p:txBody>
      </p:sp>
      <p:sp>
        <p:nvSpPr>
          <p:cNvPr id="4" name="Rectangle 3"/>
          <p:cNvSpPr/>
          <p:nvPr/>
        </p:nvSpPr>
        <p:spPr>
          <a:xfrm>
            <a:off x="360000" y="1584000"/>
            <a:ext cx="1676190" cy="19800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Calibri"/>
              </a:rPr>
              <a:t>Suivi et relance</a:t>
            </a:r>
          </a:p>
        </p:txBody>
      </p:sp>
      <p:sp>
        <p:nvSpPr>
          <p:cNvPr id="5" name="TextBox 4"/>
          <p:cNvSpPr txBox="1"/>
          <p:nvPr/>
        </p:nvSpPr>
        <p:spPr>
          <a:xfrm>
            <a:off x="360000" y="1835999"/>
            <a:ext cx="5940000" cy="2772000"/>
          </a:xfrm>
          <a:prstGeom prst="rect">
            <a:avLst/>
          </a:prstGeom>
          <a:noFill/>
        </p:spPr>
        <p:txBody>
          <a:bodyPr wrap="square">
            <a:spAutoFit/>
          </a:bodyPr>
          <a:lstStyle/>
          <a:p>
            <a:pPr>
              <a:spcBef>
                <a:spcPts val="400"/>
              </a:spcBef>
              <a:spcAft>
                <a:spcPts val="200"/>
              </a:spcAft>
            </a:pPr>
            <a:r>
              <a:rPr sz="1300" b="1">
                <a:solidFill>
                  <a:srgbClr val="27AE60"/>
                </a:solidFill>
                <a:latin typeface="Calibri"/>
              </a:rPr>
              <a:t>✓  </a:t>
            </a:r>
            <a:r>
              <a:rPr sz="1300" b="1">
                <a:solidFill>
                  <a:srgbClr val="1A1A1A"/>
                </a:solidFill>
                <a:latin typeface="Calibri"/>
              </a:rPr>
              <a:t>Pipeline de ventes avec statuts par lead</a:t>
            </a:r>
            <a:r>
              <a:rPr sz="1300" b="0">
                <a:solidFill>
                  <a:srgbClr val="555555"/>
                </a:solidFill>
                <a:latin typeface="Calibri"/>
              </a:rPr>
              <a:t> — Chaque prospect est suivi de la première prise de contact à la signature</a:t>
            </a:r>
          </a:p>
          <a:p>
            <a:pPr>
              <a:spcBef>
                <a:spcPts val="400"/>
              </a:spcBef>
              <a:spcAft>
                <a:spcPts val="200"/>
              </a:spcAft>
            </a:pPr>
            <a:r>
              <a:rPr sz="1300" b="1">
                <a:solidFill>
                  <a:srgbClr val="27AE60"/>
                </a:solidFill>
                <a:latin typeface="Calibri"/>
              </a:rPr>
              <a:t>✓  </a:t>
            </a:r>
            <a:r>
              <a:rPr sz="1300" b="1">
                <a:solidFill>
                  <a:srgbClr val="1A1A1A"/>
                </a:solidFill>
                <a:latin typeface="Calibri"/>
              </a:rPr>
              <a:t>Gestion centralisée des clients et prospects</a:t>
            </a:r>
            <a:r>
              <a:rPr sz="1300" b="0">
                <a:solidFill>
                  <a:srgbClr val="555555"/>
                </a:solidFill>
                <a:latin typeface="Calibri"/>
              </a:rPr>
              <a:t> — Un seul endroit pour tout l'historique client</a:t>
            </a:r>
          </a:p>
          <a:p>
            <a:pPr>
              <a:spcBef>
                <a:spcPts val="400"/>
              </a:spcBef>
              <a:spcAft>
                <a:spcPts val="200"/>
              </a:spcAft>
            </a:pPr>
            <a:r>
              <a:rPr sz="1300" b="1">
                <a:solidFill>
                  <a:srgbClr val="27AE60"/>
                </a:solidFill>
                <a:latin typeface="Calibri"/>
              </a:rPr>
              <a:t>✓  </a:t>
            </a:r>
            <a:r>
              <a:rPr sz="1300" b="1">
                <a:solidFill>
                  <a:srgbClr val="1A1A1A"/>
                </a:solidFill>
                <a:latin typeface="Calibri"/>
              </a:rPr>
              <a:t>Relances automatiques, aucun lead oublié</a:t>
            </a:r>
            <a:r>
              <a:rPr sz="1300" b="0">
                <a:solidFill>
                  <a:srgbClr val="555555"/>
                </a:solidFill>
                <a:latin typeface="Calibri"/>
              </a:rPr>
              <a:t> — Le système rappelle quand agir, pas besoin de mémo</a:t>
            </a:r>
          </a:p>
        </p:txBody>
      </p:sp>
      <p:sp>
        <p:nvSpPr>
          <p:cNvPr id="6" name="Rectangle 5"/>
          <p:cNvSpPr/>
          <p:nvPr/>
        </p:nvSpPr>
        <p:spPr>
          <a:xfrm>
            <a:off x="360000" y="5076000"/>
            <a:ext cx="5940000" cy="1260000"/>
          </a:xfrm>
          <a:prstGeom prst="rect">
            <a:avLst/>
          </a:prstGeom>
          <a:solidFill>
            <a:srgbClr val="FFF0E8"/>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100" b="1">
                <a:solidFill>
                  <a:srgbClr val="FF6B35"/>
                </a:solidFill>
                <a:latin typeface="Calibri"/>
              </a:rPr>
              <a:t>Impact mesuré</a:t>
            </a:r>
          </a:p>
          <a:p>
            <a:pPr>
              <a:spcBef>
                <a:spcPts val="400"/>
              </a:spcBef>
            </a:pPr>
            <a:r>
              <a:rPr sz="1100">
                <a:solidFill>
                  <a:srgbClr val="1A1A1A"/>
                </a:solidFill>
                <a:latin typeface="Calibri"/>
              </a:rPr>
              <a:t>L'automatisation des ventes sauve typiquement 6 à 10 heures par semaine par vendeur, avec des hausses de 25 à 35% du taux de conclusion.</a:t>
            </a:r>
          </a:p>
        </p:txBody>
      </p:sp>
      <p:sp>
        <p:nvSpPr>
          <p:cNvPr id="7" name="TextBox 6"/>
          <p:cNvSpPr txBox="1"/>
          <p:nvPr/>
        </p:nvSpPr>
        <p:spPr>
          <a:xfrm>
            <a:off x="180000" y="7302800"/>
            <a:ext cx="6480000" cy="203200"/>
          </a:xfrm>
          <a:prstGeom prst="rect">
            <a:avLst/>
          </a:prstGeom>
          <a:noFill/>
        </p:spPr>
        <p:txBody>
          <a:bodyPr wrap="none">
            <a:spAutoFit/>
          </a:bodyPr>
          <a:lstStyle/>
          <a:p>
            <a:r>
              <a:rPr sz="900" i="1">
                <a:solidFill>
                  <a:srgbClr val="999999"/>
                </a:solidFill>
                <a:latin typeface="Calibri"/>
              </a:rPr>
              <a:t>Source : AI Connect Business, 2026</a:t>
            </a:r>
          </a:p>
        </p:txBody>
      </p:sp>
      <p:sp>
        <p:nvSpPr>
          <p:cNvPr id="8" name="TextBox 7"/>
          <p:cNvSpPr txBox="1"/>
          <p:nvPr/>
        </p:nvSpPr>
        <p:spPr>
          <a:xfrm>
            <a:off x="10933200" y="7302800"/>
            <a:ext cx="1080000" cy="203200"/>
          </a:xfrm>
          <a:prstGeom prst="rect">
            <a:avLst/>
          </a:prstGeom>
          <a:noFill/>
        </p:spPr>
        <p:txBody>
          <a:bodyPr wrap="none">
            <a:spAutoFit/>
          </a:bodyPr>
          <a:lstStyle/>
          <a:p>
            <a:pPr algn="r"/>
            <a:r>
              <a:rPr sz="900">
                <a:solidFill>
                  <a:srgbClr val="AAAAAA"/>
                </a:solidFill>
                <a:latin typeface="Calibri"/>
              </a:rPr>
              <a:t>12 / 15</a:t>
            </a:r>
          </a:p>
        </p:txBody>
      </p:sp>
      <p:sp>
        <p:nvSpPr>
          <p:cNvPr id="9" name="TextBox 8"/>
          <p:cNvSpPr txBox="1"/>
          <p:nvPr/>
        </p:nvSpPr>
        <p:spPr>
          <a:xfrm>
            <a:off x="360000" y="871200"/>
            <a:ext cx="5940000" cy="684000"/>
          </a:xfrm>
          <a:prstGeom prst="rect">
            <a:avLst/>
          </a:prstGeom>
          <a:noFill/>
        </p:spPr>
        <p:txBody>
          <a:bodyPr wrap="square">
            <a:spAutoFit/>
          </a:bodyPr>
          <a:lstStyle/>
          <a:p>
            <a:pPr>
              <a:lnSpc>
                <a:spcPct val="140000"/>
              </a:lnSpc>
            </a:pPr>
            <a:r>
              <a:rPr sz="1000" i="1" b="0">
                <a:solidFill>
                  <a:srgbClr val="444444"/>
                </a:solidFill>
              </a:rPr>
              <a:t>La plupart des équipes de vente perdent des leads faute de suivi structuré — le prospect a été contacté une fois, puis oublié dans une feuille ou un bloc-notes. Notre module Prospection structure le pipeline de A à Z et s'assure qu'aucun contact ne tombe dans l'oubli.</a:t>
            </a:r>
          </a:p>
        </p:txBody>
      </p:sp>
      <p:sp>
        <p:nvSpPr>
          <p:cNvPr id="10" name="Rectangle 9"/>
          <p:cNvSpPr/>
          <p:nvPr/>
        </p:nvSpPr>
        <p:spPr>
          <a:xfrm>
            <a:off x="6451200" y="1764000"/>
            <a:ext cx="5097600" cy="3207600"/>
          </a:xfrm>
          <a:prstGeom prst="rect">
            <a:avLst/>
          </a:prstGeom>
          <a:no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rospection.png"/>
          <p:cNvPicPr>
            <a:picLocks noChangeAspect="1"/>
          </p:cNvPicPr>
          <p:nvPr/>
        </p:nvPicPr>
        <p:blipFill>
          <a:blip r:embed="rId2"/>
          <a:stretch>
            <a:fillRect/>
          </a:stretch>
        </p:blipFill>
        <p:spPr>
          <a:xfrm>
            <a:off x="6480000" y="1764000"/>
            <a:ext cx="5040000" cy="3150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3200" cy="127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80000"/>
            <a:ext cx="11473200" cy="503999"/>
          </a:xfrm>
          <a:prstGeom prst="rect">
            <a:avLst/>
          </a:prstGeom>
          <a:noFill/>
        </p:spPr>
        <p:txBody>
          <a:bodyPr wrap="square">
            <a:spAutoFit/>
          </a:bodyPr>
          <a:lstStyle/>
          <a:p>
            <a:r>
              <a:rPr sz="2000" b="1">
                <a:solidFill>
                  <a:srgbClr val="1A1A1A"/>
                </a:solidFill>
                <a:latin typeface="Calibri"/>
              </a:rPr>
              <a:t>Prospection — Diagnostic automatisé et conversion</a:t>
            </a:r>
          </a:p>
        </p:txBody>
      </p:sp>
      <p:sp>
        <p:nvSpPr>
          <p:cNvPr id="4" name="Rectangle 3"/>
          <p:cNvSpPr/>
          <p:nvPr/>
        </p:nvSpPr>
        <p:spPr>
          <a:xfrm>
            <a:off x="360000" y="1584000"/>
            <a:ext cx="2209523" cy="19800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FFFFF"/>
                </a:solidFill>
                <a:latin typeface="Calibri"/>
              </a:rPr>
              <a:t>Diagnostic &amp; signature</a:t>
            </a:r>
          </a:p>
        </p:txBody>
      </p:sp>
      <p:sp>
        <p:nvSpPr>
          <p:cNvPr id="5" name="TextBox 4"/>
          <p:cNvSpPr txBox="1"/>
          <p:nvPr/>
        </p:nvSpPr>
        <p:spPr>
          <a:xfrm>
            <a:off x="360000" y="1835999"/>
            <a:ext cx="5940000" cy="4932000"/>
          </a:xfrm>
          <a:prstGeom prst="rect">
            <a:avLst/>
          </a:prstGeom>
          <a:noFill/>
        </p:spPr>
        <p:txBody>
          <a:bodyPr wrap="square">
            <a:spAutoFit/>
          </a:bodyPr>
          <a:lstStyle/>
          <a:p>
            <a:pPr>
              <a:spcBef>
                <a:spcPts val="400"/>
              </a:spcBef>
              <a:spcAft>
                <a:spcPts val="200"/>
              </a:spcAft>
            </a:pPr>
            <a:r>
              <a:rPr sz="1300" b="1">
                <a:solidFill>
                  <a:srgbClr val="27AE60"/>
                </a:solidFill>
                <a:latin typeface="Calibri"/>
              </a:rPr>
              <a:t>✓  </a:t>
            </a:r>
            <a:r>
              <a:rPr sz="1300" b="1">
                <a:solidFill>
                  <a:srgbClr val="1A1A1A"/>
                </a:solidFill>
                <a:latin typeface="Calibri"/>
              </a:rPr>
              <a:t>Diagnostic automatisé multi-sections</a:t>
            </a:r>
            <a:r>
              <a:rPr sz="1300" b="0">
                <a:solidFill>
                  <a:srgbClr val="555555"/>
                </a:solidFill>
                <a:latin typeface="Calibri"/>
              </a:rPr>
              <a:t> — Génère un score et un rapport personnalisé pour chaque prospect</a:t>
            </a:r>
          </a:p>
          <a:p>
            <a:pPr>
              <a:spcBef>
                <a:spcPts val="400"/>
              </a:spcBef>
              <a:spcAft>
                <a:spcPts val="200"/>
              </a:spcAft>
            </a:pPr>
            <a:r>
              <a:rPr sz="1300" b="1">
                <a:solidFill>
                  <a:srgbClr val="27AE60"/>
                </a:solidFill>
                <a:latin typeface="Calibri"/>
              </a:rPr>
              <a:t>✓  </a:t>
            </a:r>
            <a:r>
              <a:rPr sz="1300" b="1">
                <a:solidFill>
                  <a:srgbClr val="1A1A1A"/>
                </a:solidFill>
                <a:latin typeface="Calibri"/>
              </a:rPr>
              <a:t>Signature électronique sur la proposition</a:t>
            </a:r>
            <a:r>
              <a:rPr sz="1300" b="0">
                <a:solidFill>
                  <a:srgbClr val="555555"/>
                </a:solidFill>
                <a:latin typeface="Calibri"/>
              </a:rPr>
              <a:t> — Le client signe directement sur le document, sans impression</a:t>
            </a:r>
          </a:p>
          <a:p>
            <a:pPr>
              <a:spcBef>
                <a:spcPts val="400"/>
              </a:spcBef>
              <a:spcAft>
                <a:spcPts val="200"/>
              </a:spcAft>
            </a:pPr>
            <a:r>
              <a:rPr sz="1300" b="1">
                <a:solidFill>
                  <a:srgbClr val="27AE60"/>
                </a:solidFill>
                <a:latin typeface="Calibri"/>
              </a:rPr>
              <a:t>✓  </a:t>
            </a:r>
            <a:r>
              <a:rPr sz="1300" b="1">
                <a:solidFill>
                  <a:srgbClr val="1A1A1A"/>
                </a:solidFill>
                <a:latin typeface="Calibri"/>
              </a:rPr>
              <a:t>Catalogue de services à paliers</a:t>
            </a:r>
            <a:r>
              <a:rPr sz="1300" b="0">
                <a:solidFill>
                  <a:srgbClr val="555555"/>
                </a:solidFill>
                <a:latin typeface="Calibri"/>
              </a:rPr>
              <a:t> — Entrée, croissance, partenaire — adapté à chaque taille d'entreprise</a:t>
            </a:r>
          </a:p>
          <a:p>
            <a:pPr>
              <a:spcBef>
                <a:spcPts val="400"/>
              </a:spcBef>
              <a:spcAft>
                <a:spcPts val="200"/>
              </a:spcAft>
            </a:pPr>
            <a:r>
              <a:rPr sz="1300" b="1">
                <a:solidFill>
                  <a:srgbClr val="27AE60"/>
                </a:solidFill>
                <a:latin typeface="Calibri"/>
              </a:rPr>
              <a:t>✓  </a:t>
            </a:r>
            <a:r>
              <a:rPr sz="1300" b="1">
                <a:solidFill>
                  <a:srgbClr val="1A1A1A"/>
                </a:solidFill>
                <a:latin typeface="Calibri"/>
              </a:rPr>
              <a:t>Génération PDF professionnelle automatique</a:t>
            </a:r>
            <a:r>
              <a:rPr sz="1300" b="0">
                <a:solidFill>
                  <a:srgbClr val="555555"/>
                </a:solidFill>
                <a:latin typeface="Calibri"/>
              </a:rPr>
              <a:t> — Chaque proposition est mise en page et archivée automatiquement</a:t>
            </a:r>
          </a:p>
          <a:p>
            <a:pPr>
              <a:spcBef>
                <a:spcPts val="400"/>
              </a:spcBef>
              <a:spcAft>
                <a:spcPts val="200"/>
              </a:spcAft>
            </a:pPr>
            <a:r>
              <a:rPr sz="1300" b="1">
                <a:solidFill>
                  <a:srgbClr val="27AE60"/>
                </a:solidFill>
                <a:latin typeface="Calibri"/>
              </a:rPr>
              <a:t>✓  </a:t>
            </a:r>
            <a:r>
              <a:rPr sz="1300" b="1">
                <a:solidFill>
                  <a:srgbClr val="1A1A1A"/>
                </a:solidFill>
                <a:latin typeface="Calibri"/>
              </a:rPr>
              <a:t>Bibliothèque client avec historique complet</a:t>
            </a:r>
            <a:r>
              <a:rPr sz="1300" b="0">
                <a:solidFill>
                  <a:srgbClr val="555555"/>
                </a:solidFill>
                <a:latin typeface="Calibri"/>
              </a:rPr>
              <a:t> — Chaque interaction, chaque document, centralisés</a:t>
            </a:r>
          </a:p>
        </p:txBody>
      </p:sp>
      <p:sp>
        <p:nvSpPr>
          <p:cNvPr id="6" name="TextBox 5"/>
          <p:cNvSpPr txBox="1"/>
          <p:nvPr/>
        </p:nvSpPr>
        <p:spPr>
          <a:xfrm>
            <a:off x="10933200" y="7302800"/>
            <a:ext cx="1080000" cy="203200"/>
          </a:xfrm>
          <a:prstGeom prst="rect">
            <a:avLst/>
          </a:prstGeom>
          <a:noFill/>
        </p:spPr>
        <p:txBody>
          <a:bodyPr wrap="none">
            <a:spAutoFit/>
          </a:bodyPr>
          <a:lstStyle/>
          <a:p>
            <a:pPr algn="r"/>
            <a:r>
              <a:rPr sz="900">
                <a:solidFill>
                  <a:srgbClr val="AAAAAA"/>
                </a:solidFill>
                <a:latin typeface="Calibri"/>
              </a:rPr>
              <a:t>13 / 15</a:t>
            </a:r>
          </a:p>
        </p:txBody>
      </p:sp>
      <p:sp>
        <p:nvSpPr>
          <p:cNvPr id="7" name="TextBox 6"/>
          <p:cNvSpPr txBox="1"/>
          <p:nvPr/>
        </p:nvSpPr>
        <p:spPr>
          <a:xfrm>
            <a:off x="360000" y="871200"/>
            <a:ext cx="5940000" cy="684000"/>
          </a:xfrm>
          <a:prstGeom prst="rect">
            <a:avLst/>
          </a:prstGeom>
          <a:noFill/>
        </p:spPr>
        <p:txBody>
          <a:bodyPr wrap="square">
            <a:spAutoFit/>
          </a:bodyPr>
          <a:lstStyle/>
          <a:p>
            <a:pPr>
              <a:lnSpc>
                <a:spcPct val="140000"/>
              </a:lnSpc>
            </a:pPr>
            <a:r>
              <a:rPr sz="1000" i="1" b="0">
                <a:solidFill>
                  <a:srgbClr val="444444"/>
                </a:solidFill>
              </a:rPr>
              <a:t>La différence entre un prospect qui signe et un qui ne signe pas tient souvent à la qualité de la proposition initiale. Notre outil de diagnostic génère automatiquement un rapport personnalisé qui montre au prospect exactement où il en est — et pourquoi votre solution est la réponse.</a:t>
            </a:r>
          </a:p>
        </p:txBody>
      </p:sp>
      <p:sp>
        <p:nvSpPr>
          <p:cNvPr id="8" name="Rectangle 7"/>
          <p:cNvSpPr/>
          <p:nvPr/>
        </p:nvSpPr>
        <p:spPr>
          <a:xfrm>
            <a:off x="6451200" y="1764000"/>
            <a:ext cx="5097600" cy="3207600"/>
          </a:xfrm>
          <a:prstGeom prst="rect">
            <a:avLst/>
          </a:prstGeom>
          <a:no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shot_prospect_client.png"/>
          <p:cNvPicPr>
            <a:picLocks noChangeAspect="1"/>
          </p:cNvPicPr>
          <p:nvPr/>
        </p:nvPicPr>
        <p:blipFill>
          <a:blip r:embed="rId3"/>
          <a:stretch>
            <a:fillRect/>
          </a:stretch>
        </p:blipFill>
        <p:spPr>
          <a:xfrm>
            <a:off x="6480000" y="1764000"/>
            <a:ext cx="5040000" cy="3150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3200" cy="127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80000"/>
            <a:ext cx="11473200" cy="503999"/>
          </a:xfrm>
          <a:prstGeom prst="rect">
            <a:avLst/>
          </a:prstGeom>
          <a:noFill/>
        </p:spPr>
        <p:txBody>
          <a:bodyPr wrap="square">
            <a:spAutoFit/>
          </a:bodyPr>
          <a:lstStyle/>
          <a:p>
            <a:r>
              <a:rPr sz="2000" b="1">
                <a:solidFill>
                  <a:srgbClr val="1A1A1A"/>
                </a:solidFill>
                <a:latin typeface="Calibri"/>
              </a:rPr>
              <a:t>Inventaire — Stocks en temps réel, zéro surprise</a:t>
            </a:r>
          </a:p>
        </p:txBody>
      </p:sp>
      <p:sp>
        <p:nvSpPr>
          <p:cNvPr id="4" name="TextBox 3"/>
          <p:cNvSpPr txBox="1"/>
          <p:nvPr/>
        </p:nvSpPr>
        <p:spPr>
          <a:xfrm>
            <a:off x="360000" y="1476000"/>
            <a:ext cx="11473200" cy="2880000"/>
          </a:xfrm>
          <a:prstGeom prst="rect">
            <a:avLst/>
          </a:prstGeom>
          <a:noFill/>
        </p:spPr>
        <p:txBody>
          <a:bodyPr wrap="square">
            <a:spAutoFit/>
          </a:bodyPr>
          <a:lstStyle/>
          <a:p>
            <a:pPr>
              <a:spcBef>
                <a:spcPts val="400"/>
              </a:spcBef>
              <a:spcAft>
                <a:spcPts val="200"/>
              </a:spcAft>
            </a:pPr>
            <a:r>
              <a:rPr sz="1300" b="1">
                <a:solidFill>
                  <a:srgbClr val="27AE60"/>
                </a:solidFill>
                <a:latin typeface="Calibri"/>
              </a:rPr>
              <a:t>✓  </a:t>
            </a:r>
            <a:r>
              <a:rPr sz="1300" b="1">
                <a:solidFill>
                  <a:srgbClr val="1A1A1A"/>
                </a:solidFill>
                <a:latin typeface="Calibri"/>
              </a:rPr>
              <a:t>Suivi des stocks en temps réel</a:t>
            </a:r>
            <a:r>
              <a:rPr sz="1300" b="0">
                <a:solidFill>
                  <a:srgbClr val="555555"/>
                </a:solidFill>
                <a:latin typeface="Calibri"/>
              </a:rPr>
              <a:t> — L'état exact du stock est visible à tout moment, depuis n'importe où</a:t>
            </a:r>
          </a:p>
          <a:p>
            <a:pPr>
              <a:spcBef>
                <a:spcPts val="400"/>
              </a:spcBef>
              <a:spcAft>
                <a:spcPts val="200"/>
              </a:spcAft>
            </a:pPr>
            <a:r>
              <a:rPr sz="1300" b="1">
                <a:solidFill>
                  <a:srgbClr val="27AE60"/>
                </a:solidFill>
                <a:latin typeface="Calibri"/>
              </a:rPr>
              <a:t>✓  </a:t>
            </a:r>
            <a:r>
              <a:rPr sz="1300" b="1">
                <a:solidFill>
                  <a:srgbClr val="1A1A1A"/>
                </a:solidFill>
                <a:latin typeface="Calibri"/>
              </a:rPr>
              <a:t>Alertes de réapprovisionnement automatiques</a:t>
            </a:r>
            <a:r>
              <a:rPr sz="1300" b="0">
                <a:solidFill>
                  <a:srgbClr val="555555"/>
                </a:solidFill>
                <a:latin typeface="Calibri"/>
              </a:rPr>
              <a:t> — Notifié avant d'être en rupture, pas après</a:t>
            </a:r>
          </a:p>
          <a:p>
            <a:pPr>
              <a:spcBef>
                <a:spcPts val="400"/>
              </a:spcBef>
              <a:spcAft>
                <a:spcPts val="200"/>
              </a:spcAft>
            </a:pPr>
            <a:r>
              <a:rPr sz="1300" b="1">
                <a:solidFill>
                  <a:srgbClr val="27AE60"/>
                </a:solidFill>
                <a:latin typeface="Calibri"/>
              </a:rPr>
              <a:t>✓  </a:t>
            </a:r>
            <a:r>
              <a:rPr sz="1300" b="1">
                <a:solidFill>
                  <a:srgbClr val="1A1A1A"/>
                </a:solidFill>
                <a:latin typeface="Calibri"/>
              </a:rPr>
              <a:t>Décrément automatique lié à la production</a:t>
            </a:r>
            <a:r>
              <a:rPr sz="1300" b="0">
                <a:solidFill>
                  <a:srgbClr val="555555"/>
                </a:solidFill>
                <a:latin typeface="Calibri"/>
              </a:rPr>
              <a:t> — Chaque document de production met à jour le stock sans action manuelle</a:t>
            </a:r>
          </a:p>
        </p:txBody>
      </p:sp>
      <p:sp>
        <p:nvSpPr>
          <p:cNvPr id="5" name="Rectangle 4"/>
          <p:cNvSpPr/>
          <p:nvPr/>
        </p:nvSpPr>
        <p:spPr>
          <a:xfrm>
            <a:off x="360000" y="4716000"/>
            <a:ext cx="11473200" cy="1440000"/>
          </a:xfrm>
          <a:prstGeom prst="rect">
            <a:avLst/>
          </a:prstGeom>
          <a:solidFill>
            <a:srgbClr val="FFF0E8"/>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100" b="1">
                <a:solidFill>
                  <a:srgbClr val="FF6B35"/>
                </a:solidFill>
                <a:latin typeface="Calibri"/>
              </a:rPr>
              <a:t>Impact mesuré</a:t>
            </a:r>
          </a:p>
          <a:p>
            <a:pPr>
              <a:spcBef>
                <a:spcPts val="400"/>
              </a:spcBef>
            </a:pPr>
            <a:r>
              <a:rPr sz="1100">
                <a:solidFill>
                  <a:srgbClr val="1A1A1A"/>
                </a:solidFill>
                <a:latin typeface="Calibri"/>
              </a:rPr>
              <a:t>La distorsion d'inventaire (surstock/rupture) peut coûter jusqu'à 7,2% des ventes totales. Une réduction de 10 à 15% des coûts de possession de stock est typique après automatisation.</a:t>
            </a:r>
          </a:p>
        </p:txBody>
      </p:sp>
      <p:sp>
        <p:nvSpPr>
          <p:cNvPr id="6" name="TextBox 5"/>
          <p:cNvSpPr txBox="1"/>
          <p:nvPr/>
        </p:nvSpPr>
        <p:spPr>
          <a:xfrm>
            <a:off x="180000" y="7302800"/>
            <a:ext cx="6480000" cy="203200"/>
          </a:xfrm>
          <a:prstGeom prst="rect">
            <a:avLst/>
          </a:prstGeom>
          <a:noFill/>
        </p:spPr>
        <p:txBody>
          <a:bodyPr wrap="none">
            <a:spAutoFit/>
          </a:bodyPr>
          <a:lstStyle/>
          <a:p>
            <a:r>
              <a:rPr sz="900" i="1">
                <a:solidFill>
                  <a:srgbClr val="999999"/>
                </a:solidFill>
                <a:latin typeface="Calibri"/>
              </a:rPr>
              <a:t>Sources : Cin7, 2026 — Zapro, 2026</a:t>
            </a:r>
          </a:p>
        </p:txBody>
      </p:sp>
      <p:sp>
        <p:nvSpPr>
          <p:cNvPr id="7" name="TextBox 6"/>
          <p:cNvSpPr txBox="1"/>
          <p:nvPr/>
        </p:nvSpPr>
        <p:spPr>
          <a:xfrm>
            <a:off x="10933200" y="7302800"/>
            <a:ext cx="1080000" cy="203200"/>
          </a:xfrm>
          <a:prstGeom prst="rect">
            <a:avLst/>
          </a:prstGeom>
          <a:noFill/>
        </p:spPr>
        <p:txBody>
          <a:bodyPr wrap="none">
            <a:spAutoFit/>
          </a:bodyPr>
          <a:lstStyle/>
          <a:p>
            <a:pPr algn="r"/>
            <a:r>
              <a:rPr sz="900">
                <a:solidFill>
                  <a:srgbClr val="AAAAAA"/>
                </a:solidFill>
                <a:latin typeface="Calibri"/>
              </a:rPr>
              <a:t>14 / 15</a:t>
            </a:r>
          </a:p>
        </p:txBody>
      </p:sp>
      <p:sp>
        <p:nvSpPr>
          <p:cNvPr id="8" name="TextBox 7"/>
          <p:cNvSpPr txBox="1"/>
          <p:nvPr/>
        </p:nvSpPr>
        <p:spPr>
          <a:xfrm>
            <a:off x="360000" y="691200"/>
            <a:ext cx="11473200" cy="684000"/>
          </a:xfrm>
          <a:prstGeom prst="rect">
            <a:avLst/>
          </a:prstGeom>
          <a:noFill/>
        </p:spPr>
        <p:txBody>
          <a:bodyPr wrap="square">
            <a:spAutoFit/>
          </a:bodyPr>
          <a:lstStyle/>
          <a:p>
            <a:pPr>
              <a:lnSpc>
                <a:spcPct val="140000"/>
              </a:lnSpc>
            </a:pPr>
            <a:r>
              <a:rPr sz="1000" i="1" b="0">
                <a:solidFill>
                  <a:srgbClr val="444444"/>
                </a:solidFill>
              </a:rPr>
              <a:t>Les ruptures de stock arrêtent la production, le surstock immobilise du capital — les deux sont évitables avec un suivi en temps réel. Notre module Inventaire connecte le stock à la production : chaque document généré décrémente automatiquement les quantités disponibles.</a:t>
            </a:r>
          </a:p>
        </p:txBody>
      </p:sp>
      <p:pic>
        <p:nvPicPr>
          <p:cNvPr id="9" name="Picture 8" descr="screenshot_inventaire.png"/>
          <p:cNvPicPr>
            <a:picLocks noChangeAspect="1"/>
          </p:cNvPicPr>
          <p:nvPr/>
        </p:nvPicPr>
        <p:blipFill>
          <a:blip r:embed="rId2"/>
          <a:stretch>
            <a:fillRect/>
          </a:stretch>
        </p:blipFill>
        <p:spPr>
          <a:xfrm>
            <a:off x="5940000" y="1620000"/>
            <a:ext cx="5040000" cy="2156000"/>
          </a:xfrm>
          <a:prstGeom prst="rect">
            <a:avLst/>
          </a:prstGeom>
        </p:spPr>
      </p:pic>
      <p:sp>
        <p:nvSpPr>
          <p:cNvPr id="10" name="Rectangle 9"/>
          <p:cNvSpPr/>
          <p:nvPr/>
        </p:nvSpPr>
        <p:spPr>
          <a:xfrm>
            <a:off x="5940000" y="1620000"/>
            <a:ext cx="5040000" cy="2156000"/>
          </a:xfrm>
          <a:prstGeom prst="rect">
            <a:avLst/>
          </a:prstGeom>
          <a:no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3200" cy="127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80000"/>
            <a:ext cx="11473200" cy="503999"/>
          </a:xfrm>
          <a:prstGeom prst="rect">
            <a:avLst/>
          </a:prstGeom>
          <a:noFill/>
        </p:spPr>
        <p:txBody>
          <a:bodyPr wrap="square">
            <a:spAutoFit/>
          </a:bodyPr>
          <a:lstStyle/>
          <a:p>
            <a:r>
              <a:rPr sz="2200" b="1">
                <a:solidFill>
                  <a:srgbClr val="1A1A1A"/>
                </a:solidFill>
                <a:latin typeface="Calibri"/>
              </a:rPr>
              <a:t>Un écosystème complet, déployé à votre rythme</a:t>
            </a:r>
          </a:p>
        </p:txBody>
      </p:sp>
      <p:sp>
        <p:nvSpPr>
          <p:cNvPr id="4" name="TextBox 3"/>
          <p:cNvSpPr txBox="1"/>
          <p:nvPr/>
        </p:nvSpPr>
        <p:spPr>
          <a:xfrm>
            <a:off x="360000" y="612000"/>
            <a:ext cx="11473200" cy="360000"/>
          </a:xfrm>
          <a:prstGeom prst="rect">
            <a:avLst/>
          </a:prstGeom>
          <a:noFill/>
        </p:spPr>
        <p:txBody>
          <a:bodyPr wrap="square">
            <a:spAutoFit/>
          </a:bodyPr>
          <a:lstStyle/>
          <a:p>
            <a:r>
              <a:rPr sz="1400">
                <a:solidFill>
                  <a:srgbClr val="555555"/>
                </a:solidFill>
                <a:latin typeface="Calibri"/>
              </a:rPr>
              <a:t>Chaque outil peut être utilisé seul. Ensemble, ils transforment l'opération.</a:t>
            </a:r>
          </a:p>
        </p:txBody>
      </p:sp>
      <p:sp>
        <p:nvSpPr>
          <p:cNvPr id="5" name="Rectangle 4"/>
          <p:cNvSpPr/>
          <p:nvPr/>
        </p:nvSpPr>
        <p:spPr>
          <a:xfrm>
            <a:off x="360000" y="1080000"/>
            <a:ext cx="3584400" cy="2160000"/>
          </a:xfrm>
          <a:prstGeom prst="rect">
            <a:avLst/>
          </a:prstGeom>
          <a:solidFill>
            <a:srgbClr val="FFF0E8"/>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wrap="square" lIns="108000" rIns="108000" tIns="108000"/>
          <a:lstStyle/>
          <a:p>
            <a:pPr algn="ctr"/>
            <a:r>
              <a:rPr sz="1600" b="1">
                <a:solidFill>
                  <a:srgbClr val="FF6B35"/>
                </a:solidFill>
                <a:latin typeface="Calibri"/>
              </a:rPr>
              <a:t>Automatisation</a:t>
            </a:r>
          </a:p>
          <a:p>
            <a:pPr algn="ctr">
              <a:spcBef>
                <a:spcPts val="800"/>
              </a:spcBef>
            </a:pPr>
            <a:r>
              <a:rPr sz="1200">
                <a:solidFill>
                  <a:srgbClr val="1A1A1A"/>
                </a:solidFill>
                <a:latin typeface="Calibri"/>
              </a:rPr>
              <a:t>Soumissions · Production
Feuille de temps · Inventaire</a:t>
            </a:r>
          </a:p>
        </p:txBody>
      </p:sp>
      <p:sp>
        <p:nvSpPr>
          <p:cNvPr id="6" name="Rectangle 5"/>
          <p:cNvSpPr/>
          <p:nvPr/>
        </p:nvSpPr>
        <p:spPr>
          <a:xfrm>
            <a:off x="4304400" y="1080000"/>
            <a:ext cx="3584400" cy="2160000"/>
          </a:xfrm>
          <a:prstGeom prst="rect">
            <a:avLst/>
          </a:prstGeom>
          <a:solidFill>
            <a:srgbClr val="E8F4FF"/>
          </a:solidFill>
          <a:ln w="19050">
            <a:solidFill>
              <a:srgbClr val="3399FF"/>
            </a:solidFill>
          </a:ln>
        </p:spPr>
        <p:style>
          <a:lnRef idx="1">
            <a:schemeClr val="accent1"/>
          </a:lnRef>
          <a:fillRef idx="3">
            <a:schemeClr val="accent1"/>
          </a:fillRef>
          <a:effectRef idx="2">
            <a:schemeClr val="accent1"/>
          </a:effectRef>
          <a:fontRef idx="minor">
            <a:schemeClr val="lt1"/>
          </a:fontRef>
        </p:style>
        <p:txBody>
          <a:bodyPr rtlCol="0" anchor="ctr" wrap="square" lIns="108000" rIns="108000" tIns="108000"/>
          <a:lstStyle/>
          <a:p>
            <a:pPr algn="ctr"/>
            <a:r>
              <a:rPr sz="1600" b="1">
                <a:solidFill>
                  <a:srgbClr val="3399FF"/>
                </a:solidFill>
                <a:latin typeface="Calibri"/>
              </a:rPr>
              <a:t>Visibilité</a:t>
            </a:r>
          </a:p>
          <a:p>
            <a:pPr algn="ctr">
              <a:spcBef>
                <a:spcPts val="800"/>
              </a:spcBef>
            </a:pPr>
            <a:r>
              <a:rPr sz="1200">
                <a:solidFill>
                  <a:srgbClr val="1A1A1A"/>
                </a:solidFill>
                <a:latin typeface="Calibri"/>
              </a:rPr>
              <a:t>Dashboard · Suivi production
Suivi usine · Tournée</a:t>
            </a:r>
          </a:p>
        </p:txBody>
      </p:sp>
      <p:sp>
        <p:nvSpPr>
          <p:cNvPr id="7" name="Rectangle 6"/>
          <p:cNvSpPr/>
          <p:nvPr/>
        </p:nvSpPr>
        <p:spPr>
          <a:xfrm>
            <a:off x="8248800" y="1080000"/>
            <a:ext cx="3584400" cy="2160000"/>
          </a:xfrm>
          <a:prstGeom prst="rect">
            <a:avLst/>
          </a:prstGeom>
          <a:solidFill>
            <a:srgbClr val="E8FFEE"/>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108000" rIns="108000" tIns="108000"/>
          <a:lstStyle/>
          <a:p>
            <a:pPr algn="ctr"/>
            <a:r>
              <a:rPr sz="1600" b="1">
                <a:solidFill>
                  <a:srgbClr val="27AE60"/>
                </a:solidFill>
                <a:latin typeface="Calibri"/>
              </a:rPr>
              <a:t>Croissance</a:t>
            </a:r>
          </a:p>
          <a:p>
            <a:pPr algn="ctr">
              <a:spcBef>
                <a:spcPts val="800"/>
              </a:spcBef>
            </a:pPr>
            <a:r>
              <a:rPr sz="1200">
                <a:solidFill>
                  <a:srgbClr val="1A1A1A"/>
                </a:solidFill>
                <a:latin typeface="Calibri"/>
              </a:rPr>
              <a:t>Prospection</a:t>
            </a:r>
          </a:p>
        </p:txBody>
      </p:sp>
      <p:sp>
        <p:nvSpPr>
          <p:cNvPr id="8" name="Rectangle 7"/>
          <p:cNvSpPr/>
          <p:nvPr/>
        </p:nvSpPr>
        <p:spPr>
          <a:xfrm>
            <a:off x="4296600" y="3780000"/>
            <a:ext cx="3600000" cy="43200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Planifier une démonstration</a:t>
            </a:r>
          </a:p>
        </p:txBody>
      </p:sp>
      <p:sp>
        <p:nvSpPr>
          <p:cNvPr id="9" name="TextBox 8"/>
          <p:cNvSpPr txBox="1"/>
          <p:nvPr/>
        </p:nvSpPr>
        <p:spPr>
          <a:xfrm>
            <a:off x="720000" y="4320000"/>
            <a:ext cx="10753200" cy="288000"/>
          </a:xfrm>
          <a:prstGeom prst="rect">
            <a:avLst/>
          </a:prstGeom>
          <a:noFill/>
        </p:spPr>
        <p:txBody>
          <a:bodyPr wrap="none">
            <a:spAutoFit/>
          </a:bodyPr>
          <a:lstStyle/>
          <a:p>
            <a:pPr algn="ctr"/>
            <a:r>
              <a:rPr sz="1100">
                <a:solidFill>
                  <a:srgbClr val="555555"/>
                </a:solidFill>
                <a:latin typeface="Calibri"/>
              </a:rPr>
              <a:t>prospect2.0 — Outils conçus pour les entreprises qui installent, fabriquent et vendent.</a:t>
            </a:r>
          </a:p>
        </p:txBody>
      </p:sp>
      <p:sp>
        <p:nvSpPr>
          <p:cNvPr id="10" name="Rectangle 9"/>
          <p:cNvSpPr/>
          <p:nvPr/>
        </p:nvSpPr>
        <p:spPr>
          <a:xfrm>
            <a:off x="5016600" y="6318000"/>
            <a:ext cx="2160000" cy="251999"/>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888888"/>
                </a:solidFill>
                <a:latin typeface="Calibri"/>
              </a:rPr>
              <a:t>Document confidentiel</a:t>
            </a:r>
          </a:p>
        </p:txBody>
      </p:sp>
      <p:sp>
        <p:nvSpPr>
          <p:cNvPr id="11" name="TextBox 10"/>
          <p:cNvSpPr txBox="1"/>
          <p:nvPr/>
        </p:nvSpPr>
        <p:spPr>
          <a:xfrm>
            <a:off x="10933200" y="6546800"/>
            <a:ext cx="1080000" cy="203200"/>
          </a:xfrm>
          <a:prstGeom prst="rect">
            <a:avLst/>
          </a:prstGeom>
          <a:noFill/>
        </p:spPr>
        <p:txBody>
          <a:bodyPr wrap="none">
            <a:spAutoFit/>
          </a:bodyPr>
          <a:lstStyle/>
          <a:p>
            <a:pPr algn="r"/>
            <a:r>
              <a:rPr sz="900">
                <a:solidFill>
                  <a:srgbClr val="AAAAAA"/>
                </a:solidFill>
                <a:latin typeface="Calibri"/>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